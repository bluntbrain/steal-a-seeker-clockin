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65b450b5d6146b8" /><Relationship Type="http://schemas.openxmlformats.org/officeDocument/2006/relationships/extended-properties" Target="/docProps/app.xml" Id="Re14c20da80114248" /><Relationship Type="http://schemas.openxmlformats.org/officeDocument/2006/relationships/officeDocument" Target="/ppt/presentation.xml" Id="R0e9683fa5240492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d48164c88574f2b"/>
  </p:sldMasterIdLst>
  <p:notesMasterIdLst>
    <p:notesMasterId xmlns:r="http://schemas.openxmlformats.org/officeDocument/2006/relationships" r:id="R3a1486af0280450f"/>
  </p:notesMasterIdLst>
  <p:sldIdLst>
    <p:sldId xmlns:r="http://schemas.openxmlformats.org/officeDocument/2006/relationships" id="256" r:id="R70d46d3efe024ca5"/>
    <p:sldId xmlns:r="http://schemas.openxmlformats.org/officeDocument/2006/relationships" id="257" r:id="Ra8069376f8094225"/>
    <p:sldId xmlns:r="http://schemas.openxmlformats.org/officeDocument/2006/relationships" id="258" r:id="R4c6e9f3f57974c5a"/>
    <p:sldId xmlns:r="http://schemas.openxmlformats.org/officeDocument/2006/relationships" id="259" r:id="R103123262af14830"/>
    <p:sldId xmlns:r="http://schemas.openxmlformats.org/officeDocument/2006/relationships" id="260" r:id="Raf7de06b5b804525"/>
    <p:sldId xmlns:r="http://schemas.openxmlformats.org/officeDocument/2006/relationships" id="261" r:id="Rf7882d4ed300466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2190ecc8440435d" /><Relationship Type="http://schemas.openxmlformats.org/officeDocument/2006/relationships/slideMaster" Target="/ppt/slideMasters/slideMaster1.xml" Id="R0d48164c88574f2b" /><Relationship Type="http://schemas.openxmlformats.org/officeDocument/2006/relationships/notesMaster" Target="/ppt/notesMasters/notesMaster1.xml" Id="R3a1486af0280450f" /><Relationship Type="http://schemas.openxmlformats.org/officeDocument/2006/relationships/presProps" Target="/ppt/presProps.xml" Id="Rc108cab732cb456d" /><Relationship Type="http://schemas.openxmlformats.org/officeDocument/2006/relationships/tableStyles" Target="/ppt/tableStyles.xml" Id="Re2ea80a5102c4b09" /><Relationship Type="http://schemas.openxmlformats.org/officeDocument/2006/relationships/slide" Target="/ppt/slides/slide1.xml" Id="R70d46d3efe024ca5" /><Relationship Type="http://schemas.openxmlformats.org/officeDocument/2006/relationships/slide" Target="/ppt/slides/slide2.xml" Id="Ra8069376f8094225" /><Relationship Type="http://schemas.openxmlformats.org/officeDocument/2006/relationships/slide" Target="/ppt/slides/slide3.xml" Id="R4c6e9f3f57974c5a" /><Relationship Type="http://schemas.openxmlformats.org/officeDocument/2006/relationships/slide" Target="/ppt/slides/slide4.xml" Id="R103123262af14830" /><Relationship Type="http://schemas.openxmlformats.org/officeDocument/2006/relationships/slide" Target="/ppt/slides/slide5.xml" Id="Raf7de06b5b804525" /><Relationship Type="http://schemas.openxmlformats.org/officeDocument/2006/relationships/slide" Target="/ppt/slides/slide6.xml" Id="Rf7882d4ed30046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58b2e6fa2a9461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850b95fbabc4254" /><Relationship Type="http://schemas.openxmlformats.org/officeDocument/2006/relationships/notesMaster" Target="/ppt/notesMasters/notesMaster1.xml" Id="R886fdc4db7b54f1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423bd6978284623" /><Relationship Type="http://schemas.openxmlformats.org/officeDocument/2006/relationships/notesMaster" Target="/ppt/notesMasters/notesMaster1.xml" Id="R561e91ce6be942e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30a203be93f402c" /><Relationship Type="http://schemas.openxmlformats.org/officeDocument/2006/relationships/notesMaster" Target="/ppt/notesMasters/notesMaster1.xml" Id="R89d9aad2caab42e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0bef47989084618" /><Relationship Type="http://schemas.openxmlformats.org/officeDocument/2006/relationships/notesMaster" Target="/ppt/notesMasters/notesMaster1.xml" Id="Rbb9bf1c967334e5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74ed34f38cb431e" /><Relationship Type="http://schemas.openxmlformats.org/officeDocument/2006/relationships/notesMaster" Target="/ppt/notesMasters/notesMaster1.xml" Id="R8615eb966d574f5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ab08075b61d44bd" /><Relationship Type="http://schemas.openxmlformats.org/officeDocument/2006/relationships/notesMaster" Target="/ppt/notesMasters/notesMaster1.xml" Id="R0a463b78343143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project artwork. Current development review, not an official Solana endorsement. Source: repository game and UI.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Browser gameplay screenshot. Rules: src/game/level.ts and src/game/guards.ts. Guard speed ramps from 2.2x to 2.8x over 20 seconds after alarm. Position reports every four seconds. This is not physical Android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District images are authored game assets, not gameplay screenshots. Source: src/game/level.ts; four campaign missions per district.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local browser daily practice. Live ranks are separate. Ranking uses one best server-replayed complete run per wallet, score descending then ticks ascending; exact ties share rank. Sources: shared/daily.ts, server/ranked-service.ts. No real-player retention data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src/wallet, src/commerce, server/service.ts, server/ranked-service.ts. Normal native app has a hard paywall. Judge APK grants only offline campaign access; it cannot authorize online purchases or results. No live mainnet or completed physical wallet round trip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tests/*.test.ts, server/*.test.ts, verification and release manifests. Test counts from September 13, 2026 run. Automated current browser pointer route cleared missions 1–3 but failed mission 4 timing phases; no all-12 browser or real-player completion claim. Owner must grant confirmed judges access to the private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355440afe6458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29a7f8a1a7c441e" /><Relationship Type="http://schemas.openxmlformats.org/officeDocument/2006/relationships/slideLayout" Target="/ppt/slideLayouts/slideLayout1.xml" Id="Rec3b483a7e7e4e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c3b483a7e7e4e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48acd2529e48b2" /><Relationship Type="http://schemas.openxmlformats.org/officeDocument/2006/relationships/image" Target="/ppt/media/image.png" Id="Rfc31207a9fca478b" /><Relationship Type="http://schemas.openxmlformats.org/officeDocument/2006/relationships/notesSlide" Target="/ppt/notesSlides/notesSlide1.xml" Id="R6aad58708c5b4c4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fcfc92851e4ad6" /><Relationship Type="http://schemas.openxmlformats.org/officeDocument/2006/relationships/image" Target="/ppt/media/image2.png" Id="R056f702f51634c86" /><Relationship Type="http://schemas.openxmlformats.org/officeDocument/2006/relationships/notesSlide" Target="/ppt/notesSlides/notesSlide2.xml" Id="R15f10b7e461e4a1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9a3e24842e4599" /><Relationship Type="http://schemas.openxmlformats.org/officeDocument/2006/relationships/image" Target="/ppt/media/image3.png" Id="R3c948ffdef764163" /><Relationship Type="http://schemas.openxmlformats.org/officeDocument/2006/relationships/image" Target="/ppt/media/image4.png" Id="R1fdf4fc1bd0349e6" /><Relationship Type="http://schemas.openxmlformats.org/officeDocument/2006/relationships/image" Target="/ppt/media/image5.png" Id="R01bd80ae864e44f6" /><Relationship Type="http://schemas.openxmlformats.org/officeDocument/2006/relationships/notesSlide" Target="/ppt/notesSlides/notesSlide3.xml" Id="R2303145312b74e7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955a2939c54e51" /><Relationship Type="http://schemas.openxmlformats.org/officeDocument/2006/relationships/image" Target="/ppt/media/image6.png" Id="R8d263bb6e7124d36" /><Relationship Type="http://schemas.openxmlformats.org/officeDocument/2006/relationships/notesSlide" Target="/ppt/notesSlides/notesSlide4.xml" Id="R324c26ec82af437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ee1306862e411f" /><Relationship Type="http://schemas.openxmlformats.org/officeDocument/2006/relationships/image" Target="/ppt/media/image7.png" Id="Ra3075e16955b4ad1" /><Relationship Type="http://schemas.openxmlformats.org/officeDocument/2006/relationships/notesSlide" Target="/ppt/notesSlides/notesSlide5.xml" Id="Rb2baf90ac86c413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9c5dd430ed4bfe" /><Relationship Type="http://schemas.openxmlformats.org/officeDocument/2006/relationships/notesSlide" Target="/ppt/notesSlides/notesSlide6.xml" Id="R5702f52e2a90445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C0C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B17A67-9E5D-4EFF-B972-0A781BED5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1F5E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F1F5EE"/>
                </a:solidFill>
                <a:latin typeface="Helvetica Neue"/>
                <a:ea typeface="Helvetica Neue"/>
                <a:cs typeface="Helvetica Neue"/>
              </a:rPr>
              <a:t>Steal a Seeker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F3E385-A7D4-4642-9937-ED3C2F239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5524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D6E9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D6E9E1"/>
                </a:solidFill>
                <a:latin typeface="Helvetica Neue"/>
                <a:ea typeface="Helvetica Neue"/>
                <a:cs typeface="Helvetica Neue"/>
              </a:rPr>
              <a:t>A solo stealth game for Solana Mobile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F97659-EC8E-42A2-9964-A4AFAB26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5524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CFE6E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CFE6E4"/>
                </a:solidFill>
                <a:latin typeface="Helvetica Neue"/>
                <a:ea typeface="Helvetica Neue"/>
                <a:cs typeface="Helvetica Neue"/>
              </a:rPr>
              <a:t>Recover the phone.</a:t>
            </a:r>
          </a:p>
          <a:p xmlns:a="http://schemas.openxmlformats.org/drawingml/2006/main">
            <a:pPr>
              <a:defRPr sz="3150" b="1">
                <a:solidFill>
                  <a:srgbClr val="CFE6E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CFE6E4"/>
                </a:solidFill>
                <a:latin typeface="Helvetica Neue"/>
                <a:ea typeface="Helvetica Neue"/>
                <a:cs typeface="Helvetica Neue"/>
              </a:rPr>
              <a:t>Survive the escape.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619FB7-B602-4C1E-A84C-18AE84610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638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6E9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D6E9E1"/>
                </a:solidFill>
                <a:latin typeface="Helvetica Neue"/>
                <a:ea typeface="Helvetica Neue"/>
                <a:cs typeface="Helvetica Neue"/>
              </a:rPr>
              <a:t>CLOCK IN 2026 · Development review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31207a9fca478b"/>
          <a:stretch xmlns:a="http://schemas.openxmlformats.org/drawingml/2006/main"/>
        </p:blipFill>
        <p:spPr>
          <a:xfrm xmlns:a="http://schemas.openxmlformats.org/drawingml/2006/main">
            <a:off x="6858000" y="2032000"/>
            <a:ext cx="4762500" cy="3175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6022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C0C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3A283C-20FC-475B-9582-86D7A6897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1F5E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F1F5EE"/>
                </a:solidFill>
                <a:latin typeface="Helvetica Neue"/>
                <a:ea typeface="Helvetica Neue"/>
                <a:cs typeface="Helvetica Neue"/>
              </a:rPr>
              <a:t>The theft changes the run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B21C2E-58B3-48E8-A387-75974DD76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6858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D6E9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D6E9E1"/>
                </a:solidFill>
                <a:latin typeface="Helvetica Neue"/>
                <a:ea typeface="Helvetica Neue"/>
                <a:cs typeface="Helvetica Neue"/>
              </a:rPr>
              <a:t>Before pickup, watch patrols and use cover.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D6E9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D6E9E1"/>
                </a:solidFill>
                <a:latin typeface="Helvetica Neue"/>
                <a:ea typeface="Helvetica Neue"/>
                <a:cs typeface="Helvetica Neue"/>
              </a:rPr>
              <a:t>After pickup, guards accelerate and receive periodic position reports.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D6E9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D6E9E1"/>
                </a:solidFill>
                <a:latin typeface="Helvetica Neue"/>
                <a:ea typeface="Helvetica Neue"/>
                <a:cs typeface="Helvetica Neue"/>
              </a:rPr>
              <a:t>A decoy buys time. A dash spends phone charge.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6f702f51634c86"/>
          <a:stretch xmlns:a="http://schemas.openxmlformats.org/drawingml/2006/main"/>
        </p:blipFill>
        <p:spPr>
          <a:xfrm xmlns:a="http://schemas.openxmlformats.org/drawingml/2006/main">
            <a:off x="8787264" y="1524000"/>
            <a:ext cx="2332722" cy="5048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0693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C0C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E3998B-B0DB-4512-A946-56AD71ECD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1F5E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F1F5EE"/>
                </a:solidFill>
                <a:latin typeface="Helvetica Neue"/>
                <a:ea typeface="Helvetica Neue"/>
                <a:cs typeface="Helvetica Neue"/>
              </a:rPr>
              <a:t>Twelve missions across three districts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E5C8D5-37A6-490F-9E71-73A8036E2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CFE6E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CFE6E4"/>
                </a:solidFill>
                <a:latin typeface="Helvetica Neue"/>
                <a:ea typeface="Helvetica Neue"/>
                <a:cs typeface="Helvetica Neue"/>
              </a:rPr>
              <a:t>Warehouse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4B8AE2-4A83-43A4-AA5D-B3A8F800E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D6E9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D6E9E1"/>
                </a:solidFill>
                <a:latin typeface="Helvetica Neue"/>
                <a:ea typeface="Helvetica Neue"/>
                <a:cs typeface="Helvetica Neue"/>
              </a:rPr>
              <a:t>Learn patrols, cover and battery limits.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948ffdef764163"/>
          <a:stretch xmlns:a="http://schemas.openxmlformats.org/drawingml/2006/main"/>
        </p:blipFill>
        <p:spPr>
          <a:xfrm xmlns:a="http://schemas.openxmlformats.org/drawingml/2006/main">
            <a:off x="619125" y="2428875"/>
            <a:ext cx="3143250" cy="2095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0D9DC6-CBF6-4A82-A216-1C347D31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5260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CFE6E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CFE6E4"/>
                </a:solidFill>
                <a:latin typeface="Helvetica Neue"/>
                <a:ea typeface="Helvetica Neue"/>
                <a:cs typeface="Helvetica Neue"/>
              </a:rPr>
              <a:t>Rooftops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0B13D3-B290-4660-B9B5-057A2DB18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0125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D6E9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D6E9E1"/>
                </a:solidFill>
                <a:latin typeface="Helvetica Neue"/>
                <a:ea typeface="Helvetica Neue"/>
                <a:cs typeface="Helvetica Neue"/>
              </a:rPr>
              <a:t>Cross exposed lanes and time moving gates.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df4fc1bd0349e6"/>
          <a:stretch xmlns:a="http://schemas.openxmlformats.org/drawingml/2006/main"/>
        </p:blipFill>
        <p:spPr>
          <a:xfrm xmlns:a="http://schemas.openxmlformats.org/drawingml/2006/main">
            <a:off x="4381500" y="2428875"/>
            <a:ext cx="3143250" cy="2095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570D22-43C9-4BDF-B053-80655D707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5260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FE6E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CFE6E4"/>
                </a:solidFill>
                <a:latin typeface="Helvetica Neue"/>
                <a:ea typeface="Helvetica Neue"/>
                <a:cs typeface="Helvetica Neue"/>
              </a:rPr>
              <a:t>Powerworks / Vault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46EC1A-F23C-4EC1-AE1B-3DED59AD9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10125"/>
            <a:ext cx="3143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D6E9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D6E9E1"/>
                </a:solidFill>
                <a:latin typeface="Helvetica Neue"/>
                <a:ea typeface="Helvetica Neue"/>
                <a:cs typeface="Helvetica Neue"/>
              </a:rPr>
              <a:t>Switch circuits, open relays and recover multiple targets.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bd80ae864e44f6"/>
          <a:stretch xmlns:a="http://schemas.openxmlformats.org/drawingml/2006/main"/>
        </p:blipFill>
        <p:spPr>
          <a:xfrm xmlns:a="http://schemas.openxmlformats.org/drawingml/2006/main">
            <a:off x="8191500" y="2428875"/>
            <a:ext cx="3143250" cy="2095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0493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C0C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79B161-6FE0-4D00-A7CC-AF76ADF1C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1F5E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F1F5EE"/>
                </a:solidFill>
                <a:latin typeface="Helvetica Neue"/>
                <a:ea typeface="Helvetica Neue"/>
                <a:cs typeface="Helvetica Neue"/>
              </a:rPr>
              <a:t>A reason to try another run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06C5D6-9572-4C92-B2FA-C4666FABF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905625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D6E9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D6E9E1"/>
                </a:solidFill>
                <a:latin typeface="Helvetica Neue"/>
                <a:ea typeface="Helvetica Neue"/>
                <a:cs typeface="Helvetica Neue"/>
              </a:rPr>
              <a:t>Recover a different virtual phone in each mission.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D6E9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D6E9E1"/>
                </a:solidFill>
                <a:latin typeface="Helvetica Neue"/>
                <a:ea typeface="Helvetica Neue"/>
                <a:cs typeface="Helvetica Neue"/>
              </a:rPr>
              <a:t>Finish the collection, then improve your stars or attempt the daily route.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D6E9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D6E9E1"/>
                </a:solidFill>
                <a:latin typeface="Helvetica Neue"/>
                <a:ea typeface="Helvetica Neue"/>
                <a:cs typeface="Helvetica Neue"/>
              </a:rPr>
              <a:t>The daily route resets at 00:00 UTC. Everyone uses the same loadout.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263bb6e7124d36"/>
          <a:stretch xmlns:a="http://schemas.openxmlformats.org/drawingml/2006/main"/>
        </p:blipFill>
        <p:spPr>
          <a:xfrm xmlns:a="http://schemas.openxmlformats.org/drawingml/2006/main">
            <a:off x="8798267" y="1504950"/>
            <a:ext cx="2310715" cy="50006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D939D2-03F3-4477-BE3F-16FAAB1DD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733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7BC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A7BCC1"/>
                </a:solidFill>
                <a:latin typeface="Helvetica Neue"/>
                <a:ea typeface="Helvetica Neue"/>
                <a:cs typeface="Helvetica Neue"/>
              </a:rPr>
              <a:t>Habit and retention are hypotheses to test with outside players.</a:t>
            </a:r>
          </a:p>
        </p:txBody>
      </p:sp>
    </p:spTree>
    <p:extLst>
      <p:ext uri="{BB962C8B-B14F-4D97-AF65-F5344CB8AC3E}">
        <p14:creationId xmlns:p14="http://schemas.microsoft.com/office/powerpoint/2010/main" val="20743046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C0C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50A892-CD3B-47EC-9871-CC6CF14ED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1F5E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F1F5EE"/>
                </a:solidFill>
                <a:latin typeface="Helvetica Neue"/>
                <a:ea typeface="Helvetica Neue"/>
                <a:cs typeface="Helvetica Neue"/>
              </a:rPr>
              <a:t>Solana integration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6DB55C-B249-4CEC-BC1D-5479CBF1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71437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D6E9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D6E9E1"/>
                </a:solidFill>
                <a:latin typeface="Helvetica Neue"/>
                <a:ea typeface="Helvetica Neue"/>
                <a:cs typeface="Helvetica Neue"/>
              </a:rPr>
              <a:t>Mobile Wallet Adapter opens wallet approval on Android.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D6E9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D6E9E1"/>
                </a:solidFill>
                <a:latin typeface="Helvetica Neue"/>
                <a:ea typeface="Helvetica Neue"/>
                <a:cs typeface="Helvetica Neue"/>
              </a:rPr>
              <a:t>The backend checks devnet transfers before granting campaign access and owned outfits.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D6E9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D6E9E1"/>
                </a:solidFill>
                <a:latin typeface="Helvetica Neue"/>
                <a:ea typeface="Helvetica Neue"/>
                <a:cs typeface="Helvetica Neue"/>
              </a:rPr>
              <a:t>It replays submitted inputs before accepting a ranked score.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075e16955b4ad1"/>
          <a:stretch xmlns:a="http://schemas.openxmlformats.org/drawingml/2006/main"/>
        </p:blipFill>
        <p:spPr>
          <a:xfrm xmlns:a="http://schemas.openxmlformats.org/drawingml/2006/main">
            <a:off x="8382000" y="2000250"/>
            <a:ext cx="3048000" cy="3048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FD558D-5925-46BE-B71A-98F05DF33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7BC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A7BCC1"/>
                </a:solidFill>
                <a:latin typeface="Helvetica Neue"/>
                <a:ea typeface="Helvetica Neue"/>
                <a:cs typeface="Helvetica Neue"/>
              </a:rPr>
              <a:t>TEST SKR has no monetary value. Physical Phantom payment testing is pending.</a:t>
            </a:r>
          </a:p>
        </p:txBody>
      </p:sp>
    </p:spTree>
    <p:extLst>
      <p:ext uri="{BB962C8B-B14F-4D97-AF65-F5344CB8AC3E}">
        <p14:creationId xmlns:p14="http://schemas.microsoft.com/office/powerpoint/2010/main" val="15732049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C0C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FF0B12-FA86-410E-A3C8-5306B1FE3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1F5E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F1F5EE"/>
                </a:solidFill>
                <a:latin typeface="Helvetica Neue"/>
                <a:ea typeface="Helvetica Neue"/>
                <a:cs typeface="Helvetica Neue"/>
              </a:rPr>
              <a:t>Review build and remaining proof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2F72A5-E24F-488C-849A-B9821AFA9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9906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CFE6E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CFE6E4"/>
                </a:solidFill>
                <a:latin typeface="Helvetica Neue"/>
                <a:ea typeface="Helvetica Neue"/>
                <a:cs typeface="Helvetica Neue"/>
              </a:rPr>
              <a:t>83 client / gameplay tests pass</a:t>
            </a:r>
          </a:p>
          <a:p xmlns:a="http://schemas.openxmlformats.org/drawingml/2006/main">
            <a:pPr>
              <a:defRPr sz="2625" b="1">
                <a:solidFill>
                  <a:srgbClr val="CFE6E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CFE6E4"/>
                </a:solidFill>
                <a:latin typeface="Helvetica Neue"/>
                <a:ea typeface="Helvetica Neue"/>
                <a:cs typeface="Helvetica Neue"/>
              </a:rPr>
              <a:t>52 backend tests pass</a:t>
            </a:r>
          </a:p>
          <a:p xmlns:a="http://schemas.openxmlformats.org/drawingml/2006/main">
            <a:pPr>
              <a:defRPr sz="2625" b="1">
                <a:solidFill>
                  <a:srgbClr val="CFE6E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CFE6E4"/>
                </a:solidFill>
                <a:latin typeface="Helvetica Neue"/>
                <a:ea typeface="Helvetica Neue"/>
                <a:cs typeface="Helvetica Neue"/>
              </a:rPr>
              <a:t>12 deterministic simulation routes pass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C38D8D-35E1-4CEA-97E9-1F97E5EAB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5727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D6E9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D6E9E1"/>
                </a:solidFill>
                <a:latin typeface="Helvetica Neue"/>
                <a:ea typeface="Helvetica Neue"/>
                <a:cs typeface="Helvetica Neue"/>
              </a:rPr>
              <a:t>Signed arm64 Android builds and source are included.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D6E9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D6E9E1"/>
                </a:solidFill>
                <a:latin typeface="Helvetica Neue"/>
                <a:ea typeface="Helvetica Neue"/>
                <a:cs typeface="Helvetica Neue"/>
              </a:rPr>
              <a:t>Next gates: outside-player feedback, a complete device playthrough, a physical devnet wallet round trip and the final three-minute demo.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796E84-8490-43EC-9086-44F2CB13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245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7BC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A7BCC1"/>
                </a:solidFill>
                <a:latin typeface="Helvetica Neue"/>
                <a:ea typeface="Helvetica Neue"/>
                <a:cs typeface="Helvetica Neue"/>
              </a:rPr>
              <a:t>Private source: github.com/bluntbrain/steal-a-seeker-clockin</a:t>
            </a:r>
          </a:p>
        </p:txBody>
      </p:sp>
    </p:spTree>
    <p:extLst>
      <p:ext uri="{BB962C8B-B14F-4D97-AF65-F5344CB8AC3E}">
        <p14:creationId xmlns:p14="http://schemas.microsoft.com/office/powerpoint/2010/main" val="2160011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2026-09-13T10:08:06.0410000Z</dcterms:created>
  <dcterms:modified xsi:type="dcterms:W3CDTF">2026-09-13T10:08:06.0410000Z</dcterms:modified>
</coreProperties>
</file>