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84ac1962a243af" /><Relationship Type="http://schemas.openxmlformats.org/officeDocument/2006/relationships/extended-properties" Target="/docProps/app.xml" Id="Re79167de04214a2f" /><Relationship Type="http://schemas.openxmlformats.org/officeDocument/2006/relationships/officeDocument" Target="/ppt/presentation.xml" Id="R945309de7694458d" /></Relationships>
</file>

<file path=ppt/presentation.xml><?xml version="1.0" encoding="utf-8"?>
<p:presentation xmlns:p="http://schemas.openxmlformats.org/presentationml/2006/main">
  <p:sldMasterIdLst>
    <p:sldMasterId xmlns:r="http://schemas.openxmlformats.org/officeDocument/2006/relationships" id="2147483648" r:id="Rb706b0818a574a34"/>
  </p:sldMasterIdLst>
  <p:notesMasterIdLst>
    <p:notesMasterId xmlns:r="http://schemas.openxmlformats.org/officeDocument/2006/relationships" r:id="R1be07f9b9d0649ef"/>
  </p:notesMasterIdLst>
  <p:sldIdLst>
    <p:sldId xmlns:r="http://schemas.openxmlformats.org/officeDocument/2006/relationships" id="256" r:id="R01ebff6a4c5e4a33"/>
    <p:sldId xmlns:r="http://schemas.openxmlformats.org/officeDocument/2006/relationships" id="257" r:id="R98d0b1f80fd344e7"/>
    <p:sldId xmlns:r="http://schemas.openxmlformats.org/officeDocument/2006/relationships" id="258" r:id="Rcabfa5aeb5d24ebd"/>
    <p:sldId xmlns:r="http://schemas.openxmlformats.org/officeDocument/2006/relationships" id="259" r:id="Rd80b7f6af14242ef"/>
    <p:sldId xmlns:r="http://schemas.openxmlformats.org/officeDocument/2006/relationships" id="260" r:id="Rfd73ae4ef81a403e"/>
    <p:sldId xmlns:r="http://schemas.openxmlformats.org/officeDocument/2006/relationships" id="261" r:id="R3ba8e1032a854fc4"/>
    <p:sldId xmlns:r="http://schemas.openxmlformats.org/officeDocument/2006/relationships" id="262" r:id="Rfd8a03706adf4bac"/>
    <p:sldId xmlns:r="http://schemas.openxmlformats.org/officeDocument/2006/relationships" id="263" r:id="R7d88b89789a84ebc"/>
    <p:sldId xmlns:r="http://schemas.openxmlformats.org/officeDocument/2006/relationships" id="264" r:id="R26932d0757f140f3"/>
    <p:sldId xmlns:r="http://schemas.openxmlformats.org/officeDocument/2006/relationships" id="265" r:id="Rcabf8557956145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7aafb50b0345ac" /><Relationship Type="http://schemas.openxmlformats.org/officeDocument/2006/relationships/slideMaster" Target="/ppt/slideMasters/slideMaster1.xml" Id="Rb706b0818a574a34" /><Relationship Type="http://schemas.openxmlformats.org/officeDocument/2006/relationships/notesMaster" Target="/ppt/notesMasters/notesMaster1.xml" Id="R1be07f9b9d0649ef" /><Relationship Type="http://schemas.openxmlformats.org/officeDocument/2006/relationships/presProps" Target="/ppt/presProps.xml" Id="Rd98daff44535431d" /><Relationship Type="http://schemas.openxmlformats.org/officeDocument/2006/relationships/tableStyles" Target="/ppt/tableStyles.xml" Id="Rf126d0f836e34e03" /><Relationship Type="http://schemas.openxmlformats.org/officeDocument/2006/relationships/slide" Target="/ppt/slides/slide1.xml" Id="R01ebff6a4c5e4a33" /><Relationship Type="http://schemas.openxmlformats.org/officeDocument/2006/relationships/slide" Target="/ppt/slides/slide2.xml" Id="R98d0b1f80fd344e7" /><Relationship Type="http://schemas.openxmlformats.org/officeDocument/2006/relationships/slide" Target="/ppt/slides/slide3.xml" Id="Rcabfa5aeb5d24ebd" /><Relationship Type="http://schemas.openxmlformats.org/officeDocument/2006/relationships/slide" Target="/ppt/slides/slide4.xml" Id="Rd80b7f6af14242ef" /><Relationship Type="http://schemas.openxmlformats.org/officeDocument/2006/relationships/slide" Target="/ppt/slides/slide5.xml" Id="Rfd73ae4ef81a403e" /><Relationship Type="http://schemas.openxmlformats.org/officeDocument/2006/relationships/slide" Target="/ppt/slides/slide6.xml" Id="R3ba8e1032a854fc4" /><Relationship Type="http://schemas.openxmlformats.org/officeDocument/2006/relationships/slide" Target="/ppt/slides/slide7.xml" Id="Rfd8a03706adf4bac" /><Relationship Type="http://schemas.openxmlformats.org/officeDocument/2006/relationships/slide" Target="/ppt/slides/slide8.xml" Id="R7d88b89789a84ebc" /><Relationship Type="http://schemas.openxmlformats.org/officeDocument/2006/relationships/slide" Target="/ppt/slides/slide9.xml" Id="R26932d0757f140f3" /><Relationship Type="http://schemas.openxmlformats.org/officeDocument/2006/relationships/slide" Target="/ppt/slides/slide10.xml" Id="Rcabf8557956145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2eeedf9b8e47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9d42ed70e74604" /><Relationship Type="http://schemas.openxmlformats.org/officeDocument/2006/relationships/notesMaster" Target="/ppt/notesMasters/notesMaster1.xml" Id="Re791225d77aa43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05a9bd944943d6" /><Relationship Type="http://schemas.openxmlformats.org/officeDocument/2006/relationships/notesMaster" Target="/ppt/notesMasters/notesMaster1.xml" Id="R22d792ab2dfa4c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af56f661b949d3" /><Relationship Type="http://schemas.openxmlformats.org/officeDocument/2006/relationships/notesMaster" Target="/ppt/notesMasters/notesMaster1.xml" Id="R59d9fea11ae540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80cb0486d74837" /><Relationship Type="http://schemas.openxmlformats.org/officeDocument/2006/relationships/notesMaster" Target="/ppt/notesMasters/notesMaster1.xml" Id="R3cfc9356830648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8e9ff2765f46b7" /><Relationship Type="http://schemas.openxmlformats.org/officeDocument/2006/relationships/notesMaster" Target="/ppt/notesMasters/notesMaster1.xml" Id="R6dc8aaaf16c941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91131d3add479e" /><Relationship Type="http://schemas.openxmlformats.org/officeDocument/2006/relationships/notesMaster" Target="/ppt/notesMasters/notesMaster1.xml" Id="Rda0304bb9c5b46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99b7878f3244fa" /><Relationship Type="http://schemas.openxmlformats.org/officeDocument/2006/relationships/notesMaster" Target="/ppt/notesMasters/notesMaster1.xml" Id="Rcd6307ba35ca4c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899bcc3dc74e29" /><Relationship Type="http://schemas.openxmlformats.org/officeDocument/2006/relationships/notesMaster" Target="/ppt/notesMasters/notesMaster1.xml" Id="R3c9755e1bd154a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9b118355a94a4b" /><Relationship Type="http://schemas.openxmlformats.org/officeDocument/2006/relationships/notesMaster" Target="/ppt/notesMasters/notesMaster1.xml" Id="R6a5f3e30eaf049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53c0691d7a4a62" /><Relationship Type="http://schemas.openxmlformats.org/officeDocument/2006/relationships/notesMaster" Target="/ppt/notesMasters/notesMaster1.xml" Id="Rc781b8dfd1734f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Steal a Seeker submission deck, updated 27 September 2026. Original generated cover artwork made for this deck with OpenAI image generation, using assets/paywall-v3/courier-heist.png as the character reference. Marketing art, not captured gameplay. Created by Ishan Lakhwani / bluntbrain.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Embedded animated GIF of actual current browser gameplay captured via canvas MediaRecorder on 27 September 2026 at local isolated origin. Two excerpts at original speed: move toward cover, then shoot the scout drone. Silent recording; no fabricated actions. Canvas capture omits the outer HUD. Browser footage is separate from the published Android version. MP4 also supplied in assets/gameplay.mp4. Sources: src/game and current dist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game sprites from assets/guards-v2 and assets/drones-v2. Current code implements patrol shooting and cover collision, scout reporting rather than firing, and heavy front protection with rear vulnerability. Sources: src/game/guards.ts, src/game/level.ts and current gameplay code. Artwork is shown enlarged for explanation; these are not screenshots of in-game sprite 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Twelve campaign levels in three districts, four per district. Each mission unlocks a distinct virtual Seeker phone design in the collection. These are in-game collectibles, not physical-phone prizes or NFTs. Original district map art: assets/world-v3. Sources: src/game/level.ts, phone collection catalog and Hideout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seven existing game character assets are retained. Sources: assets/solana-skins/manifest.json and cosmetic catalog. These are fan-made Solana-inspired cosmetics; inclusion does not imply endorsement or a partnership. Current Solana character pricing is 3000 earned credits or 100 SKR (SOL alternative available via live quote). Stats remain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shared weekly competition logic, server ranked-service and current app weekly league UI. Three missions per weekly competition; five attempts per mission; best escaped run per mission counts. Weekly refresh Monday. Game Pass required for ranked play. Token prize distribution is not active and is not represented as a current feature. No retention or active-player metrics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live backend health/catalog on 27 September 2026: https://seeker-api-production-41b3.up.railway.app/health and /catalog; mainnet, testPricing false. Mobile Wallet Adapter signAndSendTransactions in native wallet code. Backend verifies finalized payment receipts and prevents duplicate grant; restore/reconciliation paths exist. SKR and SOL supported for pass and skins; credit packs have live token quotes. Sources: src/commerce, src/wallet, server services. This slide describes implementation and current configuration, not a newly completed physical-device payment test. No staking/yield or active reward distribution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user supplied Screenshot 2026-09-27 at 2.23.21 PM.png; unmodified full screenshot embedded, also assets/store-published.png. Screenshot shows v0.3.30 Live since 25 September 2026; store listing Published/up to date; 25 installs in last 7 days, 46 updates in last 7 days, 1 review rated 4/5. Installs are not unique active users and updates are not additional installs. No total historical users or retention claim. Current browser development footage elsewhere may contain later changes than the published Android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exact excerpt from the user-provided publisher dashboard review by brokengrind.skr, dated 23 September 2026. Current project source and update history support shared alerts, persistent pursuit, role-specific enemies and visual tutorial work. These changes have not yet established improved retention or difficulty satisfaction. Existing QA evidence and current browser gameplay were reviewed; this is not a claim of completed new end-to-end physical-device 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Store availability supported by user-provided publisher dashboard. User instruction: users should search for/download the app on Seeker; no fabricated store deep link. Original courier art asset from assets/leaderboard-v3/courier-wave.png. Free campaign verified in app source. Deck does not claim official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f53b0674074f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9a9072c3f94ee1" /><Relationship Type="http://schemas.openxmlformats.org/officeDocument/2006/relationships/slideLayout" Target="/ppt/slideLayouts/slideLayout1.xml" Id="Rf64641a0c5e745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4641a0c5e745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194607b963445f" /><Relationship Type="http://schemas.openxmlformats.org/officeDocument/2006/relationships/image" Target="/ppt/media/image.png" Id="Re823bcebe806414d" /><Relationship Type="http://schemas.openxmlformats.org/officeDocument/2006/relationships/notesSlide" Target="/ppt/notesSlides/notesSlide1.xml" Id="Rc6b524845e0e45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7f1f89ac6b4e06" /><Relationship Type="http://schemas.openxmlformats.org/officeDocument/2006/relationships/image" Target="/ppt/media/image.gif" Id="Re0d42a23073d49a1" /><Relationship Type="http://schemas.openxmlformats.org/officeDocument/2006/relationships/notesSlide" Target="/ppt/notesSlides/notesSlide2.xml" Id="R5525150a3f6c47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7e773f18eaf4ef8" /><Relationship Type="http://schemas.openxmlformats.org/officeDocument/2006/relationships/image" Target="/ppt/media/image2.png" Id="R0a79e105b6a84981" /><Relationship Type="http://schemas.openxmlformats.org/officeDocument/2006/relationships/image" Target="/ppt/media/image3.png" Id="R218cd89eaaba4960" /><Relationship Type="http://schemas.openxmlformats.org/officeDocument/2006/relationships/image" Target="/ppt/media/image4.png" Id="Rb0b386dbe5d74dbd" /><Relationship Type="http://schemas.openxmlformats.org/officeDocument/2006/relationships/notesSlide" Target="/ppt/notesSlides/notesSlide3.xml" Id="R7cb427eaa1a949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9d7412f81446c3" /><Relationship Type="http://schemas.openxmlformats.org/officeDocument/2006/relationships/image" Target="/ppt/media/image5.png" Id="Reccbc2fbc3c54680" /><Relationship Type="http://schemas.openxmlformats.org/officeDocument/2006/relationships/image" Target="/ppt/media/image6.png" Id="R2fd36cb45bb24db9" /><Relationship Type="http://schemas.openxmlformats.org/officeDocument/2006/relationships/image" Target="/ppt/media/image7.png" Id="R71e5ea0d739c46a1" /><Relationship Type="http://schemas.openxmlformats.org/officeDocument/2006/relationships/notesSlide" Target="/ppt/notesSlides/notesSlide4.xml" Id="R9985663bf90847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6242afa494545e2" /><Relationship Type="http://schemas.openxmlformats.org/officeDocument/2006/relationships/image" Target="/ppt/media/image8.png" Id="R970ecc3ef7314054" /><Relationship Type="http://schemas.openxmlformats.org/officeDocument/2006/relationships/image" Target="/ppt/media/image9.png" Id="Re596d623a2504b58" /><Relationship Type="http://schemas.openxmlformats.org/officeDocument/2006/relationships/image" Target="/ppt/media/image10.png" Id="R1f5892c57f3d463e" /><Relationship Type="http://schemas.openxmlformats.org/officeDocument/2006/relationships/image" Target="/ppt/media/image11.png" Id="R688d0678a9bb4701" /><Relationship Type="http://schemas.openxmlformats.org/officeDocument/2006/relationships/image" Target="/ppt/media/image12.png" Id="Re5490ce4267d4bd6" /><Relationship Type="http://schemas.openxmlformats.org/officeDocument/2006/relationships/image" Target="/ppt/media/image13.png" Id="R9d7bd40e6652458e" /><Relationship Type="http://schemas.openxmlformats.org/officeDocument/2006/relationships/image" Target="/ppt/media/image14.png" Id="R1bd58686eac44ffb" /><Relationship Type="http://schemas.openxmlformats.org/officeDocument/2006/relationships/notesSlide" Target="/ppt/notesSlides/notesSlide5.xml" Id="Rfdc1a2f70c2f4c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6ad5b951f34901" /><Relationship Type="http://schemas.openxmlformats.org/officeDocument/2006/relationships/notesSlide" Target="/ppt/notesSlides/notesSlide6.xml" Id="Rd36d79c37fef44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1b19756b3584bd8" /><Relationship Type="http://schemas.openxmlformats.org/officeDocument/2006/relationships/image" Target="/ppt/media/image15.png" Id="Rfa917283f43d4fff" /><Relationship Type="http://schemas.openxmlformats.org/officeDocument/2006/relationships/notesSlide" Target="/ppt/notesSlides/notesSlide7.xml" Id="Re722182f235349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f6a1d22abe4ad8" /><Relationship Type="http://schemas.openxmlformats.org/officeDocument/2006/relationships/image" Target="/ppt/media/image16.png" Id="R0b12ab4fdffe4f65" /><Relationship Type="http://schemas.openxmlformats.org/officeDocument/2006/relationships/notesSlide" Target="/ppt/notesSlides/notesSlide8.xml" Id="R2a3895cd746746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9d65dc1f0184ac9" /><Relationship Type="http://schemas.openxmlformats.org/officeDocument/2006/relationships/notesSlide" Target="/ppt/notesSlides/notesSlide9.xml" Id="R45020ac63ab449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2a6c2f927b84490" /><Relationship Type="http://schemas.openxmlformats.org/officeDocument/2006/relationships/image" Target="/ppt/media/image17.png" Id="Rcd774c827ca54901" /><Relationship Type="http://schemas.openxmlformats.org/officeDocument/2006/relationships/notesSlide" Target="/ppt/notesSlides/notesSlide10.xml" Id="R4f121fd8b6434673" /></Relationships>
</file>

<file path=ppt/slides/slide1.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823bcebe806414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00624A4-B4B1-42E6-9B74-AA49C0777395}"/>
              </a:ext>
            </a:extLst>
          </p:cNvPr>
          <p:cNvSpPr>
            <a:spLocks xmlns:a="http://schemas.openxmlformats.org/drawingml/2006/main" noGrp="1"/>
          </p:cNvSpPr>
          <p:nvPr/>
        </p:nvSpPr>
        <p:spPr>
          <a:xfrm xmlns:a="http://schemas.openxmlformats.org/drawingml/2006/main">
            <a:off x="609600" y="523875"/>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7EBD7"/>
                </a:solidFill>
                <a:latin typeface="Helvetica Neue"/>
                <a:ea typeface="Helvetica Neue"/>
                <a:cs typeface="Helvetica Neue"/>
              </a:defRPr>
            </a:pPr>
            <a:r>
              <a:rPr sz="1500" b="1">
                <a:solidFill>
                  <a:srgbClr val="B7EBD7"/>
                </a:solidFill>
                <a:latin typeface="Helvetica Neue"/>
                <a:ea typeface="Helvetica Neue"/>
                <a:cs typeface="Helvetica Neue"/>
              </a:rPr>
              <a:t>CLOCK IN 2026  /  SOLANA MOBILE</a:t>
            </a:r>
          </a:p>
        </p:txBody>
      </p:sp>
      <p:sp>
        <p:nvSpPr>
          <p:cNvPr id="3" name="">
            <a:extLst xmlns:a="http://schemas.openxmlformats.org/drawingml/2006/main">
              <a:ext uri="{FF2B5EF4-FFF2-40B4-BE49-F238E27FC236}">
                <a16:creationId xmlns:a16="http://schemas.microsoft.com/office/drawing/2014/main" id="{6F0D51D5-6081-4355-A022-BF0BC0461D93}"/>
              </a:ext>
            </a:extLst>
          </p:cNvPr>
          <p:cNvSpPr>
            <a:spLocks xmlns:a="http://schemas.openxmlformats.org/drawingml/2006/main" noGrp="1"/>
          </p:cNvSpPr>
          <p:nvPr/>
        </p:nvSpPr>
        <p:spPr>
          <a:xfrm xmlns:a="http://schemas.openxmlformats.org/drawingml/2006/main">
            <a:off x="571500" y="1504950"/>
            <a:ext cx="6572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F2F3E9"/>
                </a:solidFill>
                <a:latin typeface="Helvetica Neue"/>
                <a:ea typeface="Helvetica Neue"/>
                <a:cs typeface="Helvetica Neue"/>
              </a:defRPr>
            </a:pPr>
            <a:r>
              <a:rPr sz="6900" b="1">
                <a:solidFill>
                  <a:srgbClr val="F2F3E9"/>
                </a:solidFill>
                <a:latin typeface="Helvetica Neue"/>
                <a:ea typeface="Helvetica Neue"/>
                <a:cs typeface="Helvetica Neue"/>
              </a:rPr>
              <a:t>STEAL</a:t>
            </a:r>
          </a:p>
          <a:p xmlns:a="http://schemas.openxmlformats.org/drawingml/2006/main">
            <a:pPr>
              <a:defRPr sz="6900" b="1">
                <a:solidFill>
                  <a:srgbClr val="F2F3E9"/>
                </a:solidFill>
                <a:latin typeface="Helvetica Neue"/>
                <a:ea typeface="Helvetica Neue"/>
                <a:cs typeface="Helvetica Neue"/>
              </a:defRPr>
            </a:pPr>
            <a:r>
              <a:rPr sz="6900" b="1">
                <a:solidFill>
                  <a:srgbClr val="F2F3E9"/>
                </a:solidFill>
                <a:latin typeface="Helvetica Neue"/>
                <a:ea typeface="Helvetica Neue"/>
                <a:cs typeface="Helvetica Neue"/>
              </a:rPr>
              <a:t>A SEEKER</a:t>
            </a:r>
          </a:p>
        </p:txBody>
      </p:sp>
      <p:sp>
        <p:nvSpPr>
          <p:cNvPr id="4" name="">
            <a:extLst xmlns:a="http://schemas.openxmlformats.org/drawingml/2006/main">
              <a:ext uri="{FF2B5EF4-FFF2-40B4-BE49-F238E27FC236}">
                <a16:creationId xmlns:a16="http://schemas.microsoft.com/office/drawing/2014/main" id="{B53EECEC-1264-451D-92CA-B5D1154C9B05}"/>
              </a:ext>
            </a:extLst>
          </p:cNvPr>
          <p:cNvSpPr>
            <a:spLocks xmlns:a="http://schemas.openxmlformats.org/drawingml/2006/main" noGrp="1"/>
          </p:cNvSpPr>
          <p:nvPr/>
        </p:nvSpPr>
        <p:spPr>
          <a:xfrm xmlns:a="http://schemas.openxmlformats.org/drawingml/2006/main">
            <a:off x="628650" y="4000500"/>
            <a:ext cx="5619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7EBD7"/>
                </a:solidFill>
                <a:latin typeface="Helvetica Neue"/>
                <a:ea typeface="Helvetica Neue"/>
                <a:cs typeface="Helvetica Neue"/>
              </a:defRPr>
            </a:pPr>
            <a:r>
              <a:rPr sz="2925" b="1">
                <a:solidFill>
                  <a:srgbClr val="B7EBD7"/>
                </a:solidFill>
                <a:latin typeface="Helvetica Neue"/>
                <a:ea typeface="Helvetica Neue"/>
                <a:cs typeface="Helvetica Neue"/>
              </a:rPr>
              <a:t>Take the phone.</a:t>
            </a:r>
          </a:p>
          <a:p xmlns:a="http://schemas.openxmlformats.org/drawingml/2006/main">
            <a:pPr>
              <a:defRPr sz="2925" b="1">
                <a:solidFill>
                  <a:srgbClr val="B7EBD7"/>
                </a:solidFill>
                <a:latin typeface="Helvetica Neue"/>
                <a:ea typeface="Helvetica Neue"/>
                <a:cs typeface="Helvetica Neue"/>
              </a:defRPr>
            </a:pPr>
            <a:r>
              <a:rPr sz="2925" b="1">
                <a:solidFill>
                  <a:srgbClr val="B7EBD7"/>
                </a:solidFill>
                <a:latin typeface="Helvetica Neue"/>
                <a:ea typeface="Helvetica Neue"/>
                <a:cs typeface="Helvetica Neue"/>
              </a:rPr>
              <a:t>Make the escape.</a:t>
            </a:r>
          </a:p>
        </p:txBody>
      </p:sp>
      <p:sp>
        <p:nvSpPr>
          <p:cNvPr id="5" name="">
            <a:extLst xmlns:a="http://schemas.openxmlformats.org/drawingml/2006/main">
              <a:ext uri="{FF2B5EF4-FFF2-40B4-BE49-F238E27FC236}">
                <a16:creationId xmlns:a16="http://schemas.microsoft.com/office/drawing/2014/main" id="{16B9D50C-E642-40E8-A143-0D65FA1AD986}"/>
              </a:ext>
            </a:extLst>
          </p:cNvPr>
          <p:cNvSpPr>
            <a:spLocks xmlns:a="http://schemas.openxmlformats.org/drawingml/2006/main" noGrp="1"/>
          </p:cNvSpPr>
          <p:nvPr/>
        </p:nvSpPr>
        <p:spPr>
          <a:xfrm xmlns:a="http://schemas.openxmlformats.org/drawingml/2006/main">
            <a:off x="628650" y="5448300"/>
            <a:ext cx="590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2F3E9"/>
                </a:solidFill>
                <a:latin typeface="Helvetica Neue"/>
                <a:ea typeface="Helvetica Neue"/>
                <a:cs typeface="Helvetica Neue"/>
              </a:defRPr>
            </a:pPr>
            <a:r>
              <a:rPr sz="2100" b="0">
                <a:solidFill>
                  <a:srgbClr val="F2F3E9"/>
                </a:solidFill>
                <a:latin typeface="Helvetica Neue"/>
                <a:ea typeface="Helvetica Neue"/>
                <a:cs typeface="Helvetica Neue"/>
              </a:rPr>
              <a:t>A mobile stealth-action game</a:t>
            </a:r>
          </a:p>
        </p:txBody>
      </p:sp>
      <p:sp>
        <p:nvSpPr>
          <p:cNvPr id="6" name="">
            <a:extLst xmlns:a="http://schemas.openxmlformats.org/drawingml/2006/main">
              <a:ext uri="{FF2B5EF4-FFF2-40B4-BE49-F238E27FC236}">
                <a16:creationId xmlns:a16="http://schemas.microsoft.com/office/drawing/2014/main" id="{EB33F4FE-A124-4F40-AC6B-B7550FF6A7DB}"/>
              </a:ext>
            </a:extLst>
          </p:cNvPr>
          <p:cNvSpPr>
            <a:spLocks xmlns:a="http://schemas.openxmlformats.org/drawingml/2006/main" noGrp="1"/>
          </p:cNvSpPr>
          <p:nvPr/>
        </p:nvSpPr>
        <p:spPr>
          <a:xfrm xmlns:a="http://schemas.openxmlformats.org/drawingml/2006/main">
            <a:off x="628650" y="612457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4BBB0"/>
                </a:solidFill>
                <a:latin typeface="Helvetica Neue"/>
                <a:ea typeface="Helvetica Neue"/>
                <a:cs typeface="Helvetica Neue"/>
              </a:defRPr>
            </a:pPr>
            <a:r>
              <a:rPr sz="1500" b="0">
                <a:solidFill>
                  <a:srgbClr val="A4BBB0"/>
                </a:solidFill>
                <a:latin typeface="Helvetica Neue"/>
                <a:ea typeface="Helvetica Neue"/>
                <a:cs typeface="Helvetica Neue"/>
              </a:rPr>
              <a:t>Ishan Lakhwani  ·  bluntbrain</a:t>
            </a:r>
          </a:p>
        </p:txBody>
      </p:sp>
    </p:spTree>
    <p:extLst>
      <p:ext uri="{BB962C8B-B14F-4D97-AF65-F5344CB8AC3E}">
        <p14:creationId xmlns:p14="http://schemas.microsoft.com/office/powerpoint/2010/main" val="1562307062"/>
      </p:ext>
    </p:extLst>
  </p:cSld>
</p:sld>
</file>

<file path=ppt/slides/slide2.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E3EC7D4-1894-4FE1-834B-2B8275878692}"/>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THE PLAYER EXPERIENCE</a:t>
            </a:r>
          </a:p>
        </p:txBody>
      </p:sp>
      <p:sp>
        <p:nvSpPr>
          <p:cNvPr id="2" name="">
            <a:extLst xmlns:a="http://schemas.openxmlformats.org/drawingml/2006/main">
              <a:ext uri="{FF2B5EF4-FFF2-40B4-BE49-F238E27FC236}">
                <a16:creationId xmlns:a16="http://schemas.microsoft.com/office/drawing/2014/main" id="{391982FD-B2DF-47E7-9BF4-F0D2D4AF72FA}"/>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A simple input.</a:t>
            </a:r>
          </a:p>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A risky escape.</a:t>
            </a:r>
          </a:p>
        </p:txBody>
      </p:sp>
      <p:sp>
        <p:nvSpPr>
          <p:cNvPr id="3" name="">
            <a:extLst xmlns:a="http://schemas.openxmlformats.org/drawingml/2006/main">
              <a:ext uri="{FF2B5EF4-FFF2-40B4-BE49-F238E27FC236}">
                <a16:creationId xmlns:a16="http://schemas.microsoft.com/office/drawing/2014/main" id="{DD1E3694-12B4-417D-A54B-3DD73E80B681}"/>
              </a:ext>
            </a:extLst>
          </p:cNvPr>
          <p:cNvSpPr>
            <a:spLocks xmlns:a="http://schemas.openxmlformats.org/drawingml/2006/main" noGrp="1"/>
          </p:cNvSpPr>
          <p:nvPr/>
        </p:nvSpPr>
        <p:spPr>
          <a:xfrm xmlns:a="http://schemas.openxmlformats.org/drawingml/2006/main">
            <a:off x="628650" y="23050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7EBD7"/>
                </a:solidFill>
                <a:latin typeface="Helvetica Neue"/>
                <a:ea typeface="Helvetica Neue"/>
                <a:cs typeface="Helvetica Neue"/>
              </a:defRPr>
            </a:pPr>
            <a:r>
              <a:rPr sz="2400" b="1">
                <a:solidFill>
                  <a:srgbClr val="B7EBD7"/>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21AF4907-D105-43EA-A2BF-5B7167B23F9A}"/>
              </a:ext>
            </a:extLst>
          </p:cNvPr>
          <p:cNvSpPr>
            <a:spLocks xmlns:a="http://schemas.openxmlformats.org/drawingml/2006/main" noGrp="1"/>
          </p:cNvSpPr>
          <p:nvPr/>
        </p:nvSpPr>
        <p:spPr>
          <a:xfrm xmlns:a="http://schemas.openxmlformats.org/drawingml/2006/main">
            <a:off x="1409700" y="2305050"/>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2F3E9"/>
                </a:solidFill>
                <a:latin typeface="Helvetica Neue"/>
                <a:ea typeface="Helvetica Neue"/>
                <a:cs typeface="Helvetica Neue"/>
              </a:defRPr>
            </a:pPr>
            <a:r>
              <a:rPr sz="2250" b="1">
                <a:solidFill>
                  <a:srgbClr val="F2F3E9"/>
                </a:solidFill>
                <a:latin typeface="Helvetica Neue"/>
                <a:ea typeface="Helvetica Neue"/>
                <a:cs typeface="Helvetica Neue"/>
              </a:rPr>
              <a:t>Tap the floor to move.</a:t>
            </a:r>
          </a:p>
        </p:txBody>
      </p:sp>
      <p:sp>
        <p:nvSpPr>
          <p:cNvPr id="5" name="">
            <a:extLst xmlns:a="http://schemas.openxmlformats.org/drawingml/2006/main">
              <a:ext uri="{FF2B5EF4-FFF2-40B4-BE49-F238E27FC236}">
                <a16:creationId xmlns:a16="http://schemas.microsoft.com/office/drawing/2014/main" id="{D1E3A4F2-C2E7-4642-95ED-D4E3F49C3374}"/>
              </a:ext>
            </a:extLst>
          </p:cNvPr>
          <p:cNvSpPr>
            <a:spLocks xmlns:a="http://schemas.openxmlformats.org/drawingml/2006/main" noGrp="1"/>
          </p:cNvSpPr>
          <p:nvPr/>
        </p:nvSpPr>
        <p:spPr>
          <a:xfrm xmlns:a="http://schemas.openxmlformats.org/drawingml/2006/main">
            <a:off x="1409700" y="2838450"/>
            <a:ext cx="542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4BBB0"/>
                </a:solidFill>
                <a:latin typeface="Helvetica Neue"/>
                <a:ea typeface="Helvetica Neue"/>
                <a:cs typeface="Helvetica Neue"/>
              </a:defRPr>
            </a:pPr>
            <a:r>
              <a:rPr sz="1875" b="0">
                <a:solidFill>
                  <a:srgbClr val="A4BBB0"/>
                </a:solidFill>
                <a:latin typeface="Helvetica Neue"/>
                <a:ea typeface="Helvetica Neue"/>
                <a:cs typeface="Helvetica Neue"/>
              </a:rPr>
              <a:t>Use cover to choose your approach.</a:t>
            </a:r>
          </a:p>
        </p:txBody>
      </p:sp>
      <p:sp>
        <p:nvSpPr>
          <p:cNvPr id="6" name="">
            <a:extLst xmlns:a="http://schemas.openxmlformats.org/drawingml/2006/main">
              <a:ext uri="{FF2B5EF4-FFF2-40B4-BE49-F238E27FC236}">
                <a16:creationId xmlns:a16="http://schemas.microsoft.com/office/drawing/2014/main" id="{26ED0C6C-76B8-4ECE-A194-9E6639930837}"/>
              </a:ext>
            </a:extLst>
          </p:cNvPr>
          <p:cNvSpPr>
            <a:spLocks xmlns:a="http://schemas.openxmlformats.org/drawingml/2006/main" noGrp="1"/>
          </p:cNvSpPr>
          <p:nvPr/>
        </p:nvSpPr>
        <p:spPr>
          <a:xfrm xmlns:a="http://schemas.openxmlformats.org/drawingml/2006/main">
            <a:off x="628650" y="35909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7EBD7"/>
                </a:solidFill>
                <a:latin typeface="Helvetica Neue"/>
                <a:ea typeface="Helvetica Neue"/>
                <a:cs typeface="Helvetica Neue"/>
              </a:defRPr>
            </a:pPr>
            <a:r>
              <a:rPr sz="2400" b="1">
                <a:solidFill>
                  <a:srgbClr val="B7EBD7"/>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FD81A3BA-B22E-4919-99B0-8D7E33092BAF}"/>
              </a:ext>
            </a:extLst>
          </p:cNvPr>
          <p:cNvSpPr>
            <a:spLocks xmlns:a="http://schemas.openxmlformats.org/drawingml/2006/main" noGrp="1"/>
          </p:cNvSpPr>
          <p:nvPr/>
        </p:nvSpPr>
        <p:spPr>
          <a:xfrm xmlns:a="http://schemas.openxmlformats.org/drawingml/2006/main">
            <a:off x="1409700" y="3590925"/>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2F3E9"/>
                </a:solidFill>
                <a:latin typeface="Helvetica Neue"/>
                <a:ea typeface="Helvetica Neue"/>
                <a:cs typeface="Helvetica Neue"/>
              </a:defRPr>
            </a:pPr>
            <a:r>
              <a:rPr sz="2250" b="1">
                <a:solidFill>
                  <a:srgbClr val="F2F3E9"/>
                </a:solidFill>
                <a:latin typeface="Helvetica Neue"/>
                <a:ea typeface="Helvetica Neue"/>
                <a:cs typeface="Helvetica Neue"/>
              </a:rPr>
              <a:t>Tap an enemy to fire.</a:t>
            </a:r>
          </a:p>
        </p:txBody>
      </p:sp>
      <p:sp>
        <p:nvSpPr>
          <p:cNvPr id="8" name="">
            <a:extLst xmlns:a="http://schemas.openxmlformats.org/drawingml/2006/main">
              <a:ext uri="{FF2B5EF4-FFF2-40B4-BE49-F238E27FC236}">
                <a16:creationId xmlns:a16="http://schemas.microsoft.com/office/drawing/2014/main" id="{8D8C0A2B-0226-4589-AE50-FE53155232A0}"/>
              </a:ext>
            </a:extLst>
          </p:cNvPr>
          <p:cNvSpPr>
            <a:spLocks xmlns:a="http://schemas.openxmlformats.org/drawingml/2006/main" noGrp="1"/>
          </p:cNvSpPr>
          <p:nvPr/>
        </p:nvSpPr>
        <p:spPr>
          <a:xfrm xmlns:a="http://schemas.openxmlformats.org/drawingml/2006/main">
            <a:off x="1409700" y="412432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4BBB0"/>
                </a:solidFill>
                <a:latin typeface="Helvetica Neue"/>
                <a:ea typeface="Helvetica Neue"/>
                <a:cs typeface="Helvetica Neue"/>
              </a:defRPr>
            </a:pPr>
            <a:r>
              <a:rPr sz="1875" b="0">
                <a:solidFill>
                  <a:srgbClr val="A4BBB0"/>
                </a:solidFill>
                <a:latin typeface="Helvetica Neue"/>
                <a:ea typeface="Helvetica Neue"/>
                <a:cs typeface="Helvetica Neue"/>
              </a:rPr>
              <a:t>Stop the drone before it reports you.</a:t>
            </a:r>
          </a:p>
        </p:txBody>
      </p:sp>
      <p:sp>
        <p:nvSpPr>
          <p:cNvPr id="9" name="">
            <a:extLst xmlns:a="http://schemas.openxmlformats.org/drawingml/2006/main">
              <a:ext uri="{FF2B5EF4-FFF2-40B4-BE49-F238E27FC236}">
                <a16:creationId xmlns:a16="http://schemas.microsoft.com/office/drawing/2014/main" id="{D6329406-8D5D-47FB-9CC5-85274F30BA23}"/>
              </a:ext>
            </a:extLst>
          </p:cNvPr>
          <p:cNvSpPr>
            <a:spLocks xmlns:a="http://schemas.openxmlformats.org/drawingml/2006/main" noGrp="1"/>
          </p:cNvSpPr>
          <p:nvPr/>
        </p:nvSpPr>
        <p:spPr>
          <a:xfrm xmlns:a="http://schemas.openxmlformats.org/drawingml/2006/main">
            <a:off x="628650" y="49339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7EBD7"/>
                </a:solidFill>
                <a:latin typeface="Helvetica Neue"/>
                <a:ea typeface="Helvetica Neue"/>
                <a:cs typeface="Helvetica Neue"/>
              </a:defRPr>
            </a:pPr>
            <a:r>
              <a:rPr sz="2400" b="1">
                <a:solidFill>
                  <a:srgbClr val="B7EBD7"/>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F3651E3E-4475-4BA6-9C61-33C024E4972C}"/>
              </a:ext>
            </a:extLst>
          </p:cNvPr>
          <p:cNvSpPr>
            <a:spLocks xmlns:a="http://schemas.openxmlformats.org/drawingml/2006/main" noGrp="1"/>
          </p:cNvSpPr>
          <p:nvPr/>
        </p:nvSpPr>
        <p:spPr>
          <a:xfrm xmlns:a="http://schemas.openxmlformats.org/drawingml/2006/main">
            <a:off x="1409700" y="4933950"/>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2F3E9"/>
                </a:solidFill>
                <a:latin typeface="Helvetica Neue"/>
                <a:ea typeface="Helvetica Neue"/>
                <a:cs typeface="Helvetica Neue"/>
              </a:defRPr>
            </a:pPr>
            <a:r>
              <a:rPr sz="2250" b="1">
                <a:solidFill>
                  <a:srgbClr val="F2F3E9"/>
                </a:solidFill>
                <a:latin typeface="Helvetica Neue"/>
                <a:ea typeface="Helvetica Neue"/>
                <a:cs typeface="Helvetica Neue"/>
              </a:rPr>
              <a:t>Steal the phone. Escape.</a:t>
            </a:r>
          </a:p>
        </p:txBody>
      </p:sp>
      <p:sp>
        <p:nvSpPr>
          <p:cNvPr id="11" name="">
            <a:extLst xmlns:a="http://schemas.openxmlformats.org/drawingml/2006/main">
              <a:ext uri="{FF2B5EF4-FFF2-40B4-BE49-F238E27FC236}">
                <a16:creationId xmlns:a16="http://schemas.microsoft.com/office/drawing/2014/main" id="{7FC3828D-E6AB-4B34-B6D8-C599586455C0}"/>
              </a:ext>
            </a:extLst>
          </p:cNvPr>
          <p:cNvSpPr>
            <a:spLocks xmlns:a="http://schemas.openxmlformats.org/drawingml/2006/main" noGrp="1"/>
          </p:cNvSpPr>
          <p:nvPr/>
        </p:nvSpPr>
        <p:spPr>
          <a:xfrm xmlns:a="http://schemas.openxmlformats.org/drawingml/2006/main">
            <a:off x="1409700" y="546735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4BBB0"/>
                </a:solidFill>
                <a:latin typeface="Helvetica Neue"/>
                <a:ea typeface="Helvetica Neue"/>
                <a:cs typeface="Helvetica Neue"/>
              </a:defRPr>
            </a:pPr>
            <a:r>
              <a:rPr sz="1875" b="0">
                <a:solidFill>
                  <a:srgbClr val="A4BBB0"/>
                </a:solidFill>
                <a:latin typeface="Helvetica Neue"/>
                <a:ea typeface="Helvetica Neue"/>
                <a:cs typeface="Helvetica Neue"/>
              </a:rPr>
              <a:t>Pickup brings the response.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0d42a23073d49a1"/>
          <a:stretch xmlns:a="http://schemas.openxmlformats.org/drawingml/2006/main"/>
        </p:blipFill>
        <p:spPr>
          <a:xfrm xmlns:a="http://schemas.openxmlformats.org/drawingml/2006/main">
            <a:off x="8172450" y="621060"/>
            <a:ext cx="2762250" cy="565398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D07DBF3D-E75D-46FC-99EB-3B52B8E02FBF}"/>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21AFB2F-19A2-4DAA-899F-E21D75143C6E}"/>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REAL BROWSER GAMEPLAY  /  CAPTURED 27 SEP 2026  /  PLAYS IN SLIDESHOW</a:t>
            </a:r>
          </a:p>
        </p:txBody>
      </p:sp>
      <p:sp>
        <p:nvSpPr>
          <p:cNvPr id="15" name="">
            <a:extLst xmlns:a="http://schemas.openxmlformats.org/drawingml/2006/main">
              <a:ext uri="{FF2B5EF4-FFF2-40B4-BE49-F238E27FC236}">
                <a16:creationId xmlns:a16="http://schemas.microsoft.com/office/drawing/2014/main" id="{C79B1E31-2E5A-42FF-BBC3-8FEFA257EDB2}"/>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02</a:t>
            </a:r>
          </a:p>
        </p:txBody>
      </p:sp>
    </p:spTree>
    <p:extLst>
      <p:ext uri="{BB962C8B-B14F-4D97-AF65-F5344CB8AC3E}">
        <p14:creationId xmlns:p14="http://schemas.microsoft.com/office/powerpoint/2010/main" val="788496031"/>
      </p:ext>
    </p:extLst>
  </p:cSld>
</p:sld>
</file>

<file path=ppt/slides/slide3.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6338F66-B816-4CC8-9746-498A3D9FF2D4}"/>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ENCOUNTER DESIGN</a:t>
            </a:r>
          </a:p>
        </p:txBody>
      </p:sp>
      <p:sp>
        <p:nvSpPr>
          <p:cNvPr id="2" name="">
            <a:extLst xmlns:a="http://schemas.openxmlformats.org/drawingml/2006/main">
              <a:ext uri="{FF2B5EF4-FFF2-40B4-BE49-F238E27FC236}">
                <a16:creationId xmlns:a16="http://schemas.microsoft.com/office/drawing/2014/main" id="{DA475409-F15F-4762-ABEE-7B772639FCC4}"/>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Read the threat. Choose the response.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a79e105b6a84981"/>
          <a:stretch xmlns:a="http://schemas.openxmlformats.org/drawingml/2006/main"/>
        </p:blipFill>
        <p:spPr>
          <a:xfrm xmlns:a="http://schemas.openxmlformats.org/drawingml/2006/main">
            <a:off x="900113" y="1933575"/>
            <a:ext cx="2857500" cy="2857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D5FF1E6-85B5-4DE6-92E2-5646E72FF4BF}"/>
              </a:ext>
            </a:extLst>
          </p:cNvPr>
          <p:cNvSpPr>
            <a:spLocks xmlns:a="http://schemas.openxmlformats.org/drawingml/2006/main" noGrp="1"/>
          </p:cNvSpPr>
          <p:nvPr/>
        </p:nvSpPr>
        <p:spPr>
          <a:xfrm xmlns:a="http://schemas.openxmlformats.org/drawingml/2006/main">
            <a:off x="609600" y="5067300"/>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7EBD7"/>
                </a:solidFill>
                <a:latin typeface="Helvetica Neue"/>
                <a:ea typeface="Helvetica Neue"/>
                <a:cs typeface="Helvetica Neue"/>
              </a:defRPr>
            </a:pPr>
            <a:r>
              <a:rPr sz="2550" b="1">
                <a:solidFill>
                  <a:srgbClr val="B7EBD7"/>
                </a:solidFill>
                <a:latin typeface="Helvetica Neue"/>
                <a:ea typeface="Helvetica Neue"/>
                <a:cs typeface="Helvetica Neue"/>
              </a:rPr>
              <a:t>Patrol</a:t>
            </a:r>
          </a:p>
        </p:txBody>
      </p:sp>
      <p:sp>
        <p:nvSpPr>
          <p:cNvPr id="5" name="">
            <a:extLst xmlns:a="http://schemas.openxmlformats.org/drawingml/2006/main">
              <a:ext uri="{FF2B5EF4-FFF2-40B4-BE49-F238E27FC236}">
                <a16:creationId xmlns:a16="http://schemas.microsoft.com/office/drawing/2014/main" id="{4E3F8FF8-0D77-4C50-87EA-81C0B8FF1C51}"/>
              </a:ext>
            </a:extLst>
          </p:cNvPr>
          <p:cNvSpPr>
            <a:spLocks xmlns:a="http://schemas.openxmlformats.org/drawingml/2006/main" noGrp="1"/>
          </p:cNvSpPr>
          <p:nvPr/>
        </p:nvSpPr>
        <p:spPr>
          <a:xfrm xmlns:a="http://schemas.openxmlformats.org/drawingml/2006/main">
            <a:off x="609600" y="56388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2F3E9"/>
                </a:solidFill>
                <a:latin typeface="Helvetica Neue"/>
                <a:ea typeface="Helvetica Neue"/>
                <a:cs typeface="Helvetica Neue"/>
              </a:defRPr>
            </a:pPr>
            <a:r>
              <a:rPr sz="1800" b="0">
                <a:solidFill>
                  <a:srgbClr val="F2F3E9"/>
                </a:solidFill>
                <a:latin typeface="Helvetica Neue"/>
                <a:ea typeface="Helvetica Neue"/>
                <a:cs typeface="Helvetica Neue"/>
              </a:rPr>
              <a:t>Use cover. Move when it aims.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18cd89eaaba4960"/>
          <a:stretch xmlns:a="http://schemas.openxmlformats.org/drawingml/2006/main"/>
        </p:blipFill>
        <p:spPr>
          <a:xfrm xmlns:a="http://schemas.openxmlformats.org/drawingml/2006/main">
            <a:off x="4643438" y="1933575"/>
            <a:ext cx="2857500" cy="2857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34B73FE-2603-4C0C-B1F7-7FA8C9A6A729}"/>
              </a:ext>
            </a:extLst>
          </p:cNvPr>
          <p:cNvSpPr>
            <a:spLocks xmlns:a="http://schemas.openxmlformats.org/drawingml/2006/main" noGrp="1"/>
          </p:cNvSpPr>
          <p:nvPr/>
        </p:nvSpPr>
        <p:spPr>
          <a:xfrm xmlns:a="http://schemas.openxmlformats.org/drawingml/2006/main">
            <a:off x="4352925" y="5067300"/>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7EBD7"/>
                </a:solidFill>
                <a:latin typeface="Helvetica Neue"/>
                <a:ea typeface="Helvetica Neue"/>
                <a:cs typeface="Helvetica Neue"/>
              </a:defRPr>
            </a:pPr>
            <a:r>
              <a:rPr sz="2550" b="1">
                <a:solidFill>
                  <a:srgbClr val="B7EBD7"/>
                </a:solidFill>
                <a:latin typeface="Helvetica Neue"/>
                <a:ea typeface="Helvetica Neue"/>
                <a:cs typeface="Helvetica Neue"/>
              </a:rPr>
              <a:t>Scout drone</a:t>
            </a:r>
          </a:p>
        </p:txBody>
      </p:sp>
      <p:sp>
        <p:nvSpPr>
          <p:cNvPr id="8" name="">
            <a:extLst xmlns:a="http://schemas.openxmlformats.org/drawingml/2006/main">
              <a:ext uri="{FF2B5EF4-FFF2-40B4-BE49-F238E27FC236}">
                <a16:creationId xmlns:a16="http://schemas.microsoft.com/office/drawing/2014/main" id="{D2E35119-EEBB-4E63-BD68-3A90261A879C}"/>
              </a:ext>
            </a:extLst>
          </p:cNvPr>
          <p:cNvSpPr>
            <a:spLocks xmlns:a="http://schemas.openxmlformats.org/drawingml/2006/main" noGrp="1"/>
          </p:cNvSpPr>
          <p:nvPr/>
        </p:nvSpPr>
        <p:spPr>
          <a:xfrm xmlns:a="http://schemas.openxmlformats.org/drawingml/2006/main">
            <a:off x="4352925" y="56388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2F3E9"/>
                </a:solidFill>
                <a:latin typeface="Helvetica Neue"/>
                <a:ea typeface="Helvetica Neue"/>
                <a:cs typeface="Helvetica Neue"/>
              </a:defRPr>
            </a:pPr>
            <a:r>
              <a:rPr sz="1800" b="0">
                <a:solidFill>
                  <a:srgbClr val="F2F3E9"/>
                </a:solidFill>
                <a:latin typeface="Helvetica Neue"/>
                <a:ea typeface="Helvetica Neue"/>
                <a:cs typeface="Helvetica Neue"/>
              </a:rPr>
              <a:t>Interrupt its location broadcast.</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0b386dbe5d74dbd"/>
          <a:stretch xmlns:a="http://schemas.openxmlformats.org/drawingml/2006/main"/>
        </p:blipFill>
        <p:spPr>
          <a:xfrm xmlns:a="http://schemas.openxmlformats.org/drawingml/2006/main">
            <a:off x="8386763" y="1933575"/>
            <a:ext cx="2857500" cy="28575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463D817-91E8-4ED7-8AD9-51AC3CC5E302}"/>
              </a:ext>
            </a:extLst>
          </p:cNvPr>
          <p:cNvSpPr>
            <a:spLocks xmlns:a="http://schemas.openxmlformats.org/drawingml/2006/main" noGrp="1"/>
          </p:cNvSpPr>
          <p:nvPr/>
        </p:nvSpPr>
        <p:spPr>
          <a:xfrm xmlns:a="http://schemas.openxmlformats.org/drawingml/2006/main">
            <a:off x="8096250" y="5067300"/>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7EBD7"/>
                </a:solidFill>
                <a:latin typeface="Helvetica Neue"/>
                <a:ea typeface="Helvetica Neue"/>
                <a:cs typeface="Helvetica Neue"/>
              </a:defRPr>
            </a:pPr>
            <a:r>
              <a:rPr sz="2550" b="1">
                <a:solidFill>
                  <a:srgbClr val="B7EBD7"/>
                </a:solidFill>
                <a:latin typeface="Helvetica Neue"/>
                <a:ea typeface="Helvetica Neue"/>
                <a:cs typeface="Helvetica Neue"/>
              </a:rPr>
              <a:t>Heavy</a:t>
            </a:r>
          </a:p>
        </p:txBody>
      </p:sp>
      <p:sp>
        <p:nvSpPr>
          <p:cNvPr id="11" name="">
            <a:extLst xmlns:a="http://schemas.openxmlformats.org/drawingml/2006/main">
              <a:ext uri="{FF2B5EF4-FFF2-40B4-BE49-F238E27FC236}">
                <a16:creationId xmlns:a16="http://schemas.microsoft.com/office/drawing/2014/main" id="{C02FCBFD-CB54-4CE3-9959-BCF1E993D9EA}"/>
              </a:ext>
            </a:extLst>
          </p:cNvPr>
          <p:cNvSpPr>
            <a:spLocks xmlns:a="http://schemas.openxmlformats.org/drawingml/2006/main" noGrp="1"/>
          </p:cNvSpPr>
          <p:nvPr/>
        </p:nvSpPr>
        <p:spPr>
          <a:xfrm xmlns:a="http://schemas.openxmlformats.org/drawingml/2006/main">
            <a:off x="8096250" y="56388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2F3E9"/>
                </a:solidFill>
                <a:latin typeface="Helvetica Neue"/>
                <a:ea typeface="Helvetica Neue"/>
                <a:cs typeface="Helvetica Neue"/>
              </a:defRPr>
            </a:pPr>
            <a:r>
              <a:rPr sz="1800" b="0">
                <a:solidFill>
                  <a:srgbClr val="F2F3E9"/>
                </a:solidFill>
                <a:latin typeface="Helvetica Neue"/>
                <a:ea typeface="Helvetica Neue"/>
                <a:cs typeface="Helvetica Neue"/>
              </a:rPr>
              <a:t>Get behind its protected front.</a:t>
            </a:r>
          </a:p>
        </p:txBody>
      </p:sp>
      <p:sp>
        <p:nvSpPr>
          <p:cNvPr id="12" name="">
            <a:extLst xmlns:a="http://schemas.openxmlformats.org/drawingml/2006/main">
              <a:ext uri="{FF2B5EF4-FFF2-40B4-BE49-F238E27FC236}">
                <a16:creationId xmlns:a16="http://schemas.microsoft.com/office/drawing/2014/main" id="{498D6B1E-1F80-4385-B40F-569C20B7A630}"/>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486D4B7-D561-4B9D-B750-EE7B82BE4E9E}"/>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STEAL A SEEKER  /  CLOCK IN 2026</a:t>
            </a:r>
          </a:p>
        </p:txBody>
      </p:sp>
      <p:sp>
        <p:nvSpPr>
          <p:cNvPr id="14" name="">
            <a:extLst xmlns:a="http://schemas.openxmlformats.org/drawingml/2006/main">
              <a:ext uri="{FF2B5EF4-FFF2-40B4-BE49-F238E27FC236}">
                <a16:creationId xmlns:a16="http://schemas.microsoft.com/office/drawing/2014/main" id="{2ABEFD58-E5CA-4794-9BD3-DA679E727003}"/>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03</a:t>
            </a:r>
          </a:p>
        </p:txBody>
      </p:sp>
    </p:spTree>
    <p:extLst>
      <p:ext uri="{BB962C8B-B14F-4D97-AF65-F5344CB8AC3E}">
        <p14:creationId xmlns:p14="http://schemas.microsoft.com/office/powerpoint/2010/main" val="225247484"/>
      </p:ext>
    </p:extLst>
  </p:cSld>
</p:sld>
</file>

<file path=ppt/slides/slide4.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A81083D-1095-4005-A6EB-57BF8103914F}"/>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CAMPAIGN</a:t>
            </a:r>
          </a:p>
        </p:txBody>
      </p:sp>
      <p:sp>
        <p:nvSpPr>
          <p:cNvPr id="2" name="">
            <a:extLst xmlns:a="http://schemas.openxmlformats.org/drawingml/2006/main">
              <a:ext uri="{FF2B5EF4-FFF2-40B4-BE49-F238E27FC236}">
                <a16:creationId xmlns:a16="http://schemas.microsoft.com/office/drawing/2014/main" id="{8EA4A709-2CA1-4E84-B5DB-68ABA669C5DE}"/>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Twelve heists. Twelve phones to collect.</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ccbc2fbc3c54680"/>
          <a:stretch xmlns:a="http://schemas.openxmlformats.org/drawingml/2006/main"/>
        </p:blipFill>
        <p:spPr>
          <a:xfrm xmlns:a="http://schemas.openxmlformats.org/drawingml/2006/main">
            <a:off x="495300" y="1944688"/>
            <a:ext cx="3638550" cy="24257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A5842F5-35E2-4FFE-896A-381C65398127}"/>
              </a:ext>
            </a:extLst>
          </p:cNvPr>
          <p:cNvSpPr>
            <a:spLocks xmlns:a="http://schemas.openxmlformats.org/drawingml/2006/main" noGrp="1"/>
          </p:cNvSpPr>
          <p:nvPr/>
        </p:nvSpPr>
        <p:spPr>
          <a:xfrm xmlns:a="http://schemas.openxmlformats.org/drawingml/2006/main">
            <a:off x="609600" y="47434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7EBD7"/>
                </a:solidFill>
                <a:latin typeface="Helvetica Neue"/>
                <a:ea typeface="Helvetica Neue"/>
                <a:cs typeface="Helvetica Neue"/>
              </a:defRPr>
            </a:pPr>
            <a:r>
              <a:rPr sz="1725" b="1">
                <a:solidFill>
                  <a:srgbClr val="B7EBD7"/>
                </a:solidFill>
                <a:latin typeface="Helvetica Neue"/>
                <a:ea typeface="Helvetica Neue"/>
                <a:cs typeface="Helvetica Neue"/>
              </a:rPr>
              <a:t>01—04</a:t>
            </a:r>
          </a:p>
        </p:txBody>
      </p:sp>
      <p:sp>
        <p:nvSpPr>
          <p:cNvPr id="5" name="">
            <a:extLst xmlns:a="http://schemas.openxmlformats.org/drawingml/2006/main">
              <a:ext uri="{FF2B5EF4-FFF2-40B4-BE49-F238E27FC236}">
                <a16:creationId xmlns:a16="http://schemas.microsoft.com/office/drawing/2014/main" id="{FAF9D219-BE67-4914-94C4-26190180F2FA}"/>
              </a:ext>
            </a:extLst>
          </p:cNvPr>
          <p:cNvSpPr>
            <a:spLocks xmlns:a="http://schemas.openxmlformats.org/drawingml/2006/main" noGrp="1"/>
          </p:cNvSpPr>
          <p:nvPr/>
        </p:nvSpPr>
        <p:spPr>
          <a:xfrm xmlns:a="http://schemas.openxmlformats.org/drawingml/2006/main">
            <a:off x="609600" y="5153025"/>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3E9"/>
                </a:solidFill>
                <a:latin typeface="Helvetica Neue"/>
                <a:ea typeface="Helvetica Neue"/>
                <a:cs typeface="Helvetica Neue"/>
              </a:defRPr>
            </a:pPr>
            <a:r>
              <a:rPr sz="2400" b="1">
                <a:solidFill>
                  <a:srgbClr val="F2F3E9"/>
                </a:solidFill>
                <a:latin typeface="Helvetica Neue"/>
                <a:ea typeface="Helvetica Neue"/>
                <a:cs typeface="Helvetica Neue"/>
              </a:rPr>
              <a:t>Warehouse</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fd36cb45bb24db9"/>
          <a:stretch xmlns:a="http://schemas.openxmlformats.org/drawingml/2006/main"/>
        </p:blipFill>
        <p:spPr>
          <a:xfrm xmlns:a="http://schemas.openxmlformats.org/drawingml/2006/main">
            <a:off x="4238625" y="1944688"/>
            <a:ext cx="3638550" cy="24257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09647C0-03A7-4BDF-BBC7-72CDD18E073C}"/>
              </a:ext>
            </a:extLst>
          </p:cNvPr>
          <p:cNvSpPr>
            <a:spLocks xmlns:a="http://schemas.openxmlformats.org/drawingml/2006/main" noGrp="1"/>
          </p:cNvSpPr>
          <p:nvPr/>
        </p:nvSpPr>
        <p:spPr>
          <a:xfrm xmlns:a="http://schemas.openxmlformats.org/drawingml/2006/main">
            <a:off x="4352925" y="47434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7EBD7"/>
                </a:solidFill>
                <a:latin typeface="Helvetica Neue"/>
                <a:ea typeface="Helvetica Neue"/>
                <a:cs typeface="Helvetica Neue"/>
              </a:defRPr>
            </a:pPr>
            <a:r>
              <a:rPr sz="1725" b="1">
                <a:solidFill>
                  <a:srgbClr val="B7EBD7"/>
                </a:solidFill>
                <a:latin typeface="Helvetica Neue"/>
                <a:ea typeface="Helvetica Neue"/>
                <a:cs typeface="Helvetica Neue"/>
              </a:rPr>
              <a:t>05—08</a:t>
            </a:r>
          </a:p>
        </p:txBody>
      </p:sp>
      <p:sp>
        <p:nvSpPr>
          <p:cNvPr id="8" name="">
            <a:extLst xmlns:a="http://schemas.openxmlformats.org/drawingml/2006/main">
              <a:ext uri="{FF2B5EF4-FFF2-40B4-BE49-F238E27FC236}">
                <a16:creationId xmlns:a16="http://schemas.microsoft.com/office/drawing/2014/main" id="{F231E115-AC80-4C92-B994-135D85B63A09}"/>
              </a:ext>
            </a:extLst>
          </p:cNvPr>
          <p:cNvSpPr>
            <a:spLocks xmlns:a="http://schemas.openxmlformats.org/drawingml/2006/main" noGrp="1"/>
          </p:cNvSpPr>
          <p:nvPr/>
        </p:nvSpPr>
        <p:spPr>
          <a:xfrm xmlns:a="http://schemas.openxmlformats.org/drawingml/2006/main">
            <a:off x="4352925" y="5153025"/>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3E9"/>
                </a:solidFill>
                <a:latin typeface="Helvetica Neue"/>
                <a:ea typeface="Helvetica Neue"/>
                <a:cs typeface="Helvetica Neue"/>
              </a:defRPr>
            </a:pPr>
            <a:r>
              <a:rPr sz="2400" b="1">
                <a:solidFill>
                  <a:srgbClr val="F2F3E9"/>
                </a:solidFill>
                <a:latin typeface="Helvetica Neue"/>
                <a:ea typeface="Helvetica Neue"/>
                <a:cs typeface="Helvetica Neue"/>
              </a:rPr>
              <a:t>Rooftops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1e5ea0d739c46a1"/>
          <a:stretch xmlns:a="http://schemas.openxmlformats.org/drawingml/2006/main"/>
        </p:blipFill>
        <p:spPr>
          <a:xfrm xmlns:a="http://schemas.openxmlformats.org/drawingml/2006/main">
            <a:off x="7981950" y="1944688"/>
            <a:ext cx="3638550" cy="24257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2BAA4C5-DFD0-449F-8114-BC9BD8FEF51F}"/>
              </a:ext>
            </a:extLst>
          </p:cNvPr>
          <p:cNvSpPr>
            <a:spLocks xmlns:a="http://schemas.openxmlformats.org/drawingml/2006/main" noGrp="1"/>
          </p:cNvSpPr>
          <p:nvPr/>
        </p:nvSpPr>
        <p:spPr>
          <a:xfrm xmlns:a="http://schemas.openxmlformats.org/drawingml/2006/main">
            <a:off x="8096250" y="47434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7EBD7"/>
                </a:solidFill>
                <a:latin typeface="Helvetica Neue"/>
                <a:ea typeface="Helvetica Neue"/>
                <a:cs typeface="Helvetica Neue"/>
              </a:defRPr>
            </a:pPr>
            <a:r>
              <a:rPr sz="1725" b="1">
                <a:solidFill>
                  <a:srgbClr val="B7EBD7"/>
                </a:solidFill>
                <a:latin typeface="Helvetica Neue"/>
                <a:ea typeface="Helvetica Neue"/>
                <a:cs typeface="Helvetica Neue"/>
              </a:rPr>
              <a:t>09—12</a:t>
            </a:r>
          </a:p>
        </p:txBody>
      </p:sp>
      <p:sp>
        <p:nvSpPr>
          <p:cNvPr id="11" name="">
            <a:extLst xmlns:a="http://schemas.openxmlformats.org/drawingml/2006/main">
              <a:ext uri="{FF2B5EF4-FFF2-40B4-BE49-F238E27FC236}">
                <a16:creationId xmlns:a16="http://schemas.microsoft.com/office/drawing/2014/main" id="{ACF49E2F-65BC-4929-B924-01AA0491CC84}"/>
              </a:ext>
            </a:extLst>
          </p:cNvPr>
          <p:cNvSpPr>
            <a:spLocks xmlns:a="http://schemas.openxmlformats.org/drawingml/2006/main" noGrp="1"/>
          </p:cNvSpPr>
          <p:nvPr/>
        </p:nvSpPr>
        <p:spPr>
          <a:xfrm xmlns:a="http://schemas.openxmlformats.org/drawingml/2006/main">
            <a:off x="8096250" y="5153025"/>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3E9"/>
                </a:solidFill>
                <a:latin typeface="Helvetica Neue"/>
                <a:ea typeface="Helvetica Neue"/>
                <a:cs typeface="Helvetica Neue"/>
              </a:defRPr>
            </a:pPr>
            <a:r>
              <a:rPr sz="2400" b="1">
                <a:solidFill>
                  <a:srgbClr val="F2F3E9"/>
                </a:solidFill>
                <a:latin typeface="Helvetica Neue"/>
                <a:ea typeface="Helvetica Neue"/>
                <a:cs typeface="Helvetica Neue"/>
              </a:rPr>
              <a:t>Powerworks</a:t>
            </a:r>
          </a:p>
        </p:txBody>
      </p:sp>
      <p:sp>
        <p:nvSpPr>
          <p:cNvPr id="12" name="">
            <a:extLst xmlns:a="http://schemas.openxmlformats.org/drawingml/2006/main">
              <a:ext uri="{FF2B5EF4-FFF2-40B4-BE49-F238E27FC236}">
                <a16:creationId xmlns:a16="http://schemas.microsoft.com/office/drawing/2014/main" id="{1187953D-EE72-4EB0-AB93-4AFCABE6A9B7}"/>
              </a:ext>
            </a:extLst>
          </p:cNvPr>
          <p:cNvSpPr>
            <a:spLocks xmlns:a="http://schemas.openxmlformats.org/drawingml/2006/main" noGrp="1"/>
          </p:cNvSpPr>
          <p:nvPr/>
        </p:nvSpPr>
        <p:spPr>
          <a:xfrm xmlns:a="http://schemas.openxmlformats.org/drawingml/2006/main">
            <a:off x="609600" y="58674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4BBB0"/>
                </a:solidFill>
                <a:latin typeface="Helvetica Neue"/>
                <a:ea typeface="Helvetica Neue"/>
                <a:cs typeface="Helvetica Neue"/>
              </a:defRPr>
            </a:pPr>
            <a:r>
              <a:rPr sz="2025" b="0">
                <a:solidFill>
                  <a:srgbClr val="A4BBB0"/>
                </a:solidFill>
                <a:latin typeface="Helvetica Neue"/>
                <a:ea typeface="Helvetica Neue"/>
                <a:cs typeface="Helvetica Neue"/>
              </a:rPr>
              <a:t>Clear a mission → recover its Seeker → view it in Hideout.</a:t>
            </a:r>
          </a:p>
        </p:txBody>
      </p:sp>
      <p:sp>
        <p:nvSpPr>
          <p:cNvPr id="13" name="">
            <a:extLst xmlns:a="http://schemas.openxmlformats.org/drawingml/2006/main">
              <a:ext uri="{FF2B5EF4-FFF2-40B4-BE49-F238E27FC236}">
                <a16:creationId xmlns:a16="http://schemas.microsoft.com/office/drawing/2014/main" id="{1911EA39-5CB7-45D9-B54D-573327CAC67C}"/>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22075D4-0561-4E98-A7A3-75DC612A7954}"/>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STEAL A SEEKER  /  CLOCK IN 2026</a:t>
            </a:r>
          </a:p>
        </p:txBody>
      </p:sp>
      <p:sp>
        <p:nvSpPr>
          <p:cNvPr id="15" name="">
            <a:extLst xmlns:a="http://schemas.openxmlformats.org/drawingml/2006/main">
              <a:ext uri="{FF2B5EF4-FFF2-40B4-BE49-F238E27FC236}">
                <a16:creationId xmlns:a16="http://schemas.microsoft.com/office/drawing/2014/main" id="{5F610A58-9B6B-4A95-BF81-A25C00CF6CF1}"/>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04</a:t>
            </a:r>
          </a:p>
        </p:txBody>
      </p:sp>
    </p:spTree>
    <p:extLst>
      <p:ext uri="{BB962C8B-B14F-4D97-AF65-F5344CB8AC3E}">
        <p14:creationId xmlns:p14="http://schemas.microsoft.com/office/powerpoint/2010/main" val="384262506"/>
      </p:ext>
    </p:extLst>
  </p:cSld>
</p:sld>
</file>

<file path=ppt/slides/slide5.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BE8B18A-0F2F-400D-8C69-F1C3403B0762}"/>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IDENTITY &amp; COLLECTION</a:t>
            </a:r>
          </a:p>
        </p:txBody>
      </p:sp>
      <p:sp>
        <p:nvSpPr>
          <p:cNvPr id="2" name="">
            <a:extLst xmlns:a="http://schemas.openxmlformats.org/drawingml/2006/main">
              <a:ext uri="{FF2B5EF4-FFF2-40B4-BE49-F238E27FC236}">
                <a16:creationId xmlns:a16="http://schemas.microsoft.com/office/drawing/2014/main" id="{46C368F3-B9C1-41A7-95B3-95138247E4F3}"/>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Play your way. Keep the same stats.</a:t>
            </a:r>
          </a:p>
        </p:txBody>
      </p:sp>
      <p:sp>
        <p:nvSpPr>
          <p:cNvPr id="3" name="">
            <a:extLst xmlns:a="http://schemas.openxmlformats.org/drawingml/2006/main">
              <a:ext uri="{FF2B5EF4-FFF2-40B4-BE49-F238E27FC236}">
                <a16:creationId xmlns:a16="http://schemas.microsoft.com/office/drawing/2014/main" id="{66045D59-8E9B-4A68-B336-88887B76ACE6}"/>
              </a:ext>
            </a:extLst>
          </p:cNvPr>
          <p:cNvSpPr>
            <a:spLocks xmlns:a="http://schemas.openxmlformats.org/drawingml/2006/main" noGrp="1"/>
          </p:cNvSpPr>
          <p:nvPr/>
        </p:nvSpPr>
        <p:spPr>
          <a:xfrm xmlns:a="http://schemas.openxmlformats.org/drawingml/2006/main">
            <a:off x="609600" y="18002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4BBB0"/>
                </a:solidFill>
                <a:latin typeface="Helvetica Neue"/>
                <a:ea typeface="Helvetica Neue"/>
                <a:cs typeface="Helvetica Neue"/>
              </a:defRPr>
            </a:pPr>
            <a:r>
              <a:rPr sz="2025" b="0">
                <a:solidFill>
                  <a:srgbClr val="A4BBB0"/>
                </a:solidFill>
                <a:latin typeface="Helvetica Neue"/>
                <a:ea typeface="Helvetica Neue"/>
                <a:cs typeface="Helvetica Neue"/>
              </a:rPr>
              <a:t>Solana-inspired characters, courier outfits and collectible phones.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70ecc3ef7314054"/>
          <a:stretch xmlns:a="http://schemas.openxmlformats.org/drawingml/2006/main"/>
        </p:blipFill>
        <p:spPr>
          <a:xfrm xmlns:a="http://schemas.openxmlformats.org/drawingml/2006/main">
            <a:off x="476250" y="2690813"/>
            <a:ext cx="1657350" cy="24860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4787D75-CC29-43F9-9E2C-D0FA8FADE739}"/>
              </a:ext>
            </a:extLst>
          </p:cNvPr>
          <p:cNvSpPr>
            <a:spLocks xmlns:a="http://schemas.openxmlformats.org/drawingml/2006/main" noGrp="1"/>
          </p:cNvSpPr>
          <p:nvPr/>
        </p:nvSpPr>
        <p:spPr>
          <a:xfrm xmlns:a="http://schemas.openxmlformats.org/drawingml/2006/main">
            <a:off x="542925" y="5410200"/>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2F3E9"/>
                </a:solidFill>
                <a:latin typeface="Helvetica Neue"/>
                <a:ea typeface="Helvetica Neue"/>
                <a:cs typeface="Helvetica Neue"/>
              </a:defRPr>
            </a:pPr>
            <a:r>
              <a:rPr sz="1875" b="1">
                <a:solidFill>
                  <a:srgbClr val="F2F3E9"/>
                </a:solidFill>
                <a:latin typeface="Helvetica Neue"/>
                <a:ea typeface="Helvetica Neue"/>
                <a:cs typeface="Helvetica Neue"/>
              </a:rPr>
              <a:t>Toly</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596d623a2504b58"/>
          <a:stretch xmlns:a="http://schemas.openxmlformats.org/drawingml/2006/main"/>
        </p:blipFill>
        <p:spPr>
          <a:xfrm xmlns:a="http://schemas.openxmlformats.org/drawingml/2006/main">
            <a:off x="2076450" y="2690813"/>
            <a:ext cx="1657350" cy="24860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B0E9209-794C-4DAA-89B4-63BBB53929C3}"/>
              </a:ext>
            </a:extLst>
          </p:cNvPr>
          <p:cNvSpPr>
            <a:spLocks xmlns:a="http://schemas.openxmlformats.org/drawingml/2006/main" noGrp="1"/>
          </p:cNvSpPr>
          <p:nvPr/>
        </p:nvSpPr>
        <p:spPr>
          <a:xfrm xmlns:a="http://schemas.openxmlformats.org/drawingml/2006/main">
            <a:off x="2143125" y="5410200"/>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2F3E9"/>
                </a:solidFill>
                <a:latin typeface="Helvetica Neue"/>
                <a:ea typeface="Helvetica Neue"/>
                <a:cs typeface="Helvetica Neue"/>
              </a:defRPr>
            </a:pPr>
            <a:r>
              <a:rPr sz="1875" b="1">
                <a:solidFill>
                  <a:srgbClr val="F2F3E9"/>
                </a:solidFill>
                <a:latin typeface="Helvetica Neue"/>
                <a:ea typeface="Helvetica Neue"/>
                <a:cs typeface="Helvetica Neue"/>
              </a:rPr>
              <a:t>Mert</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f5892c57f3d463e"/>
          <a:stretch xmlns:a="http://schemas.openxmlformats.org/drawingml/2006/main"/>
        </p:blipFill>
        <p:spPr>
          <a:xfrm xmlns:a="http://schemas.openxmlformats.org/drawingml/2006/main">
            <a:off x="3676650" y="2690813"/>
            <a:ext cx="1657350" cy="24860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9F714A2-FC88-4FAE-A106-8FD463D083F3}"/>
              </a:ext>
            </a:extLst>
          </p:cNvPr>
          <p:cNvSpPr>
            <a:spLocks xmlns:a="http://schemas.openxmlformats.org/drawingml/2006/main" noGrp="1"/>
          </p:cNvSpPr>
          <p:nvPr/>
        </p:nvSpPr>
        <p:spPr>
          <a:xfrm xmlns:a="http://schemas.openxmlformats.org/drawingml/2006/main">
            <a:off x="3743325" y="5410200"/>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2F3E9"/>
                </a:solidFill>
                <a:latin typeface="Helvetica Neue"/>
                <a:ea typeface="Helvetica Neue"/>
                <a:cs typeface="Helvetica Neue"/>
              </a:defRPr>
            </a:pPr>
            <a:r>
              <a:rPr sz="1875" b="1">
                <a:solidFill>
                  <a:srgbClr val="F2F3E9"/>
                </a:solidFill>
                <a:latin typeface="Helvetica Neue"/>
                <a:ea typeface="Helvetica Neue"/>
                <a:cs typeface="Helvetica Neue"/>
              </a:rPr>
              <a:t>Chase</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88d0678a9bb4701"/>
          <a:stretch xmlns:a="http://schemas.openxmlformats.org/drawingml/2006/main"/>
        </p:blipFill>
        <p:spPr>
          <a:xfrm xmlns:a="http://schemas.openxmlformats.org/drawingml/2006/main">
            <a:off x="5276850" y="2690813"/>
            <a:ext cx="1657350" cy="2486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C6766FC1-7CCA-4B7C-B622-3637517DEBB4}"/>
              </a:ext>
            </a:extLst>
          </p:cNvPr>
          <p:cNvSpPr>
            <a:spLocks xmlns:a="http://schemas.openxmlformats.org/drawingml/2006/main" noGrp="1"/>
          </p:cNvSpPr>
          <p:nvPr/>
        </p:nvSpPr>
        <p:spPr>
          <a:xfrm xmlns:a="http://schemas.openxmlformats.org/drawingml/2006/main">
            <a:off x="5343525" y="5410200"/>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2F3E9"/>
                </a:solidFill>
                <a:latin typeface="Helvetica Neue"/>
                <a:ea typeface="Helvetica Neue"/>
                <a:cs typeface="Helvetica Neue"/>
              </a:defRPr>
            </a:pPr>
            <a:r>
              <a:rPr sz="1875" b="1">
                <a:solidFill>
                  <a:srgbClr val="F2F3E9"/>
                </a:solidFill>
                <a:latin typeface="Helvetica Neue"/>
                <a:ea typeface="Helvetica Neue"/>
                <a:cs typeface="Helvetica Neue"/>
              </a:rPr>
              <a:t>Lily</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e5490ce4267d4bd6"/>
          <a:stretch xmlns:a="http://schemas.openxmlformats.org/drawingml/2006/main"/>
        </p:blipFill>
        <p:spPr>
          <a:xfrm xmlns:a="http://schemas.openxmlformats.org/drawingml/2006/main">
            <a:off x="6877050" y="2690813"/>
            <a:ext cx="1657350" cy="24860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F0209467-8B74-4BAC-87DD-1C78A6138265}"/>
              </a:ext>
            </a:extLst>
          </p:cNvPr>
          <p:cNvSpPr>
            <a:spLocks xmlns:a="http://schemas.openxmlformats.org/drawingml/2006/main" noGrp="1"/>
          </p:cNvSpPr>
          <p:nvPr/>
        </p:nvSpPr>
        <p:spPr>
          <a:xfrm xmlns:a="http://schemas.openxmlformats.org/drawingml/2006/main">
            <a:off x="6943725" y="5410200"/>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2F3E9"/>
                </a:solidFill>
                <a:latin typeface="Helvetica Neue"/>
                <a:ea typeface="Helvetica Neue"/>
                <a:cs typeface="Helvetica Neue"/>
              </a:defRPr>
            </a:pPr>
            <a:r>
              <a:rPr sz="1875" b="1">
                <a:solidFill>
                  <a:srgbClr val="F2F3E9"/>
                </a:solidFill>
                <a:latin typeface="Helvetica Neue"/>
                <a:ea typeface="Helvetica Neue"/>
                <a:cs typeface="Helvetica Neue"/>
              </a:rPr>
              <a:t>Vibhu</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d7bd40e6652458e"/>
          <a:stretch xmlns:a="http://schemas.openxmlformats.org/drawingml/2006/main"/>
        </p:blipFill>
        <p:spPr>
          <a:xfrm xmlns:a="http://schemas.openxmlformats.org/drawingml/2006/main">
            <a:off x="8477250" y="2690813"/>
            <a:ext cx="1657350" cy="248602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5257092C-AB5F-4839-A27B-41834E80A13D}"/>
              </a:ext>
            </a:extLst>
          </p:cNvPr>
          <p:cNvSpPr>
            <a:spLocks xmlns:a="http://schemas.openxmlformats.org/drawingml/2006/main" noGrp="1"/>
          </p:cNvSpPr>
          <p:nvPr/>
        </p:nvSpPr>
        <p:spPr>
          <a:xfrm xmlns:a="http://schemas.openxmlformats.org/drawingml/2006/main">
            <a:off x="8543925" y="5410200"/>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2F3E9"/>
                </a:solidFill>
                <a:latin typeface="Helvetica Neue"/>
                <a:ea typeface="Helvetica Neue"/>
                <a:cs typeface="Helvetica Neue"/>
              </a:defRPr>
            </a:pPr>
            <a:r>
              <a:rPr sz="1875" b="1">
                <a:solidFill>
                  <a:srgbClr val="F2F3E9"/>
                </a:solidFill>
                <a:latin typeface="Helvetica Neue"/>
                <a:ea typeface="Helvetica Neue"/>
                <a:cs typeface="Helvetica Neue"/>
              </a:rPr>
              <a:t>Akshay</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1bd58686eac44ffb"/>
          <a:stretch xmlns:a="http://schemas.openxmlformats.org/drawingml/2006/main"/>
        </p:blipFill>
        <p:spPr>
          <a:xfrm xmlns:a="http://schemas.openxmlformats.org/drawingml/2006/main">
            <a:off x="10077450" y="2690813"/>
            <a:ext cx="1657350" cy="248602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1932DF07-780F-41A1-877C-DA1DCED6F989}"/>
              </a:ext>
            </a:extLst>
          </p:cNvPr>
          <p:cNvSpPr>
            <a:spLocks xmlns:a="http://schemas.openxmlformats.org/drawingml/2006/main" noGrp="1"/>
          </p:cNvSpPr>
          <p:nvPr/>
        </p:nvSpPr>
        <p:spPr>
          <a:xfrm xmlns:a="http://schemas.openxmlformats.org/drawingml/2006/main">
            <a:off x="10144125" y="5410200"/>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2F3E9"/>
                </a:solidFill>
                <a:latin typeface="Helvetica Neue"/>
                <a:ea typeface="Helvetica Neue"/>
                <a:cs typeface="Helvetica Neue"/>
              </a:defRPr>
            </a:pPr>
            <a:r>
              <a:rPr sz="1875" b="1">
                <a:solidFill>
                  <a:srgbClr val="F2F3E9"/>
                </a:solidFill>
                <a:latin typeface="Helvetica Neue"/>
                <a:ea typeface="Helvetica Neue"/>
                <a:cs typeface="Helvetica Neue"/>
              </a:rPr>
              <a:t>Beeman</a:t>
            </a:r>
          </a:p>
        </p:txBody>
      </p:sp>
      <p:sp>
        <p:nvSpPr>
          <p:cNvPr id="18" name="">
            <a:extLst xmlns:a="http://schemas.openxmlformats.org/drawingml/2006/main">
              <a:ext uri="{FF2B5EF4-FFF2-40B4-BE49-F238E27FC236}">
                <a16:creationId xmlns:a16="http://schemas.microsoft.com/office/drawing/2014/main" id="{BD279F2A-6DD6-4650-ACF9-412E6016240D}"/>
              </a:ext>
            </a:extLst>
          </p:cNvPr>
          <p:cNvSpPr>
            <a:spLocks xmlns:a="http://schemas.openxmlformats.org/drawingml/2006/main" noGrp="1"/>
          </p:cNvSpPr>
          <p:nvPr/>
        </p:nvSpPr>
        <p:spPr>
          <a:xfrm xmlns:a="http://schemas.openxmlformats.org/drawingml/2006/main">
            <a:off x="609600" y="59531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B7EBD7"/>
                </a:solidFill>
                <a:latin typeface="Helvetica Neue"/>
                <a:ea typeface="Helvetica Neue"/>
                <a:cs typeface="Helvetica Neue"/>
              </a:defRPr>
            </a:pPr>
            <a:r>
              <a:rPr sz="1950" b="1">
                <a:solidFill>
                  <a:srgbClr val="B7EBD7"/>
                </a:solidFill>
                <a:latin typeface="Helvetica Neue"/>
                <a:ea typeface="Helvetica Neue"/>
                <a:cs typeface="Helvetica Neue"/>
              </a:rPr>
              <a:t>Cosmetic unlocks do not improve combat stats.</a:t>
            </a:r>
          </a:p>
        </p:txBody>
      </p:sp>
      <p:sp>
        <p:nvSpPr>
          <p:cNvPr id="19" name="">
            <a:extLst xmlns:a="http://schemas.openxmlformats.org/drawingml/2006/main">
              <a:ext uri="{FF2B5EF4-FFF2-40B4-BE49-F238E27FC236}">
                <a16:creationId xmlns:a16="http://schemas.microsoft.com/office/drawing/2014/main" id="{DEB939C3-71A6-4B00-B5EE-2BAC52BABAA3}"/>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0830FFB-831B-49A0-8736-227E60FDA31A}"/>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STEAL A SEEKER  /  CLOCK IN 2026</a:t>
            </a:r>
          </a:p>
        </p:txBody>
      </p:sp>
      <p:sp>
        <p:nvSpPr>
          <p:cNvPr id="21" name="">
            <a:extLst xmlns:a="http://schemas.openxmlformats.org/drawingml/2006/main">
              <a:ext uri="{FF2B5EF4-FFF2-40B4-BE49-F238E27FC236}">
                <a16:creationId xmlns:a16="http://schemas.microsoft.com/office/drawing/2014/main" id="{1F5D6580-EC20-457E-80FA-168397786BD8}"/>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05</a:t>
            </a:r>
          </a:p>
        </p:txBody>
      </p:sp>
    </p:spTree>
    <p:extLst>
      <p:ext uri="{BB962C8B-B14F-4D97-AF65-F5344CB8AC3E}">
        <p14:creationId xmlns:p14="http://schemas.microsoft.com/office/powerpoint/2010/main" val="523285769"/>
      </p:ext>
    </p:extLst>
  </p:cSld>
</p:sld>
</file>

<file path=ppt/slides/slide6.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5002098-C1BE-4630-9726-F4436A29958E}"/>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REPLAY VALUE</a:t>
            </a:r>
          </a:p>
        </p:txBody>
      </p:sp>
      <p:sp>
        <p:nvSpPr>
          <p:cNvPr id="2" name="">
            <a:extLst xmlns:a="http://schemas.openxmlformats.org/drawingml/2006/main">
              <a:ext uri="{FF2B5EF4-FFF2-40B4-BE49-F238E27FC236}">
                <a16:creationId xmlns:a16="http://schemas.microsoft.com/office/drawing/2014/main" id="{867002C7-5278-4DB2-B8C0-19BAAAE9EAB1}"/>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One weekly league. Three ranked missions.</a:t>
            </a:r>
          </a:p>
        </p:txBody>
      </p:sp>
      <p:sp>
        <p:nvSpPr>
          <p:cNvPr id="3" name="">
            <a:extLst xmlns:a="http://schemas.openxmlformats.org/drawingml/2006/main">
              <a:ext uri="{FF2B5EF4-FFF2-40B4-BE49-F238E27FC236}">
                <a16:creationId xmlns:a16="http://schemas.microsoft.com/office/drawing/2014/main" id="{038A07FA-C9DC-4057-8968-3B797598B66D}"/>
              </a:ext>
            </a:extLst>
          </p:cNvPr>
          <p:cNvSpPr>
            <a:spLocks xmlns:a="http://schemas.openxmlformats.org/drawingml/2006/main" noGrp="1"/>
          </p:cNvSpPr>
          <p:nvPr/>
        </p:nvSpPr>
        <p:spPr>
          <a:xfrm xmlns:a="http://schemas.openxmlformats.org/drawingml/2006/main">
            <a:off x="647700" y="2076450"/>
            <a:ext cx="2857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150" b="1">
                <a:solidFill>
                  <a:srgbClr val="B7EBD7"/>
                </a:solidFill>
                <a:latin typeface="Helvetica Neue"/>
                <a:ea typeface="Helvetica Neue"/>
                <a:cs typeface="Helvetica Neue"/>
              </a:defRPr>
            </a:pPr>
            <a:r>
              <a:rPr sz="9150" b="1">
                <a:solidFill>
                  <a:srgbClr val="B7EBD7"/>
                </a:solidFill>
                <a:latin typeface="Helvetica Neue"/>
                <a:ea typeface="Helvetica Neue"/>
                <a:cs typeface="Helvetica Neue"/>
              </a:rPr>
              <a:t>3</a:t>
            </a:r>
          </a:p>
        </p:txBody>
      </p:sp>
      <p:sp>
        <p:nvSpPr>
          <p:cNvPr id="4" name="">
            <a:extLst xmlns:a="http://schemas.openxmlformats.org/drawingml/2006/main">
              <a:ext uri="{FF2B5EF4-FFF2-40B4-BE49-F238E27FC236}">
                <a16:creationId xmlns:a16="http://schemas.microsoft.com/office/drawing/2014/main" id="{A454FA3D-3D64-447A-B8B3-35CCB61B8A07}"/>
              </a:ext>
            </a:extLst>
          </p:cNvPr>
          <p:cNvSpPr>
            <a:spLocks xmlns:a="http://schemas.openxmlformats.org/drawingml/2006/main" noGrp="1"/>
          </p:cNvSpPr>
          <p:nvPr/>
        </p:nvSpPr>
        <p:spPr>
          <a:xfrm xmlns:a="http://schemas.openxmlformats.org/drawingml/2006/main">
            <a:off x="704850" y="3609975"/>
            <a:ext cx="314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2F3E9"/>
                </a:solidFill>
                <a:latin typeface="Helvetica Neue"/>
                <a:ea typeface="Helvetica Neue"/>
                <a:cs typeface="Helvetica Neue"/>
              </a:defRPr>
            </a:pPr>
            <a:r>
              <a:rPr sz="2100" b="1">
                <a:solidFill>
                  <a:srgbClr val="F2F3E9"/>
                </a:solidFill>
                <a:latin typeface="Helvetica Neue"/>
                <a:ea typeface="Helvetica Neue"/>
                <a:cs typeface="Helvetica Neue"/>
              </a:rPr>
              <a:t>ranked missions</a:t>
            </a:r>
          </a:p>
        </p:txBody>
      </p:sp>
      <p:sp>
        <p:nvSpPr>
          <p:cNvPr id="5" name="">
            <a:extLst xmlns:a="http://schemas.openxmlformats.org/drawingml/2006/main">
              <a:ext uri="{FF2B5EF4-FFF2-40B4-BE49-F238E27FC236}">
                <a16:creationId xmlns:a16="http://schemas.microsoft.com/office/drawing/2014/main" id="{6A279C96-246D-4455-87B3-7BD40A261650}"/>
              </a:ext>
            </a:extLst>
          </p:cNvPr>
          <p:cNvSpPr>
            <a:spLocks xmlns:a="http://schemas.openxmlformats.org/drawingml/2006/main" noGrp="1"/>
          </p:cNvSpPr>
          <p:nvPr/>
        </p:nvSpPr>
        <p:spPr>
          <a:xfrm xmlns:a="http://schemas.openxmlformats.org/drawingml/2006/main">
            <a:off x="4486275" y="2076450"/>
            <a:ext cx="2857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150" b="1">
                <a:solidFill>
                  <a:srgbClr val="B7EBD7"/>
                </a:solidFill>
                <a:latin typeface="Helvetica Neue"/>
                <a:ea typeface="Helvetica Neue"/>
                <a:cs typeface="Helvetica Neue"/>
              </a:defRPr>
            </a:pPr>
            <a:r>
              <a:rPr sz="9150" b="1">
                <a:solidFill>
                  <a:srgbClr val="B7EBD7"/>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9DE8A893-5603-4266-B67D-3EFA9F7DCE3B}"/>
              </a:ext>
            </a:extLst>
          </p:cNvPr>
          <p:cNvSpPr>
            <a:spLocks xmlns:a="http://schemas.openxmlformats.org/drawingml/2006/main" noGrp="1"/>
          </p:cNvSpPr>
          <p:nvPr/>
        </p:nvSpPr>
        <p:spPr>
          <a:xfrm xmlns:a="http://schemas.openxmlformats.org/drawingml/2006/main">
            <a:off x="4543425" y="3609975"/>
            <a:ext cx="3381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2F3E9"/>
                </a:solidFill>
                <a:latin typeface="Helvetica Neue"/>
                <a:ea typeface="Helvetica Neue"/>
                <a:cs typeface="Helvetica Neue"/>
              </a:defRPr>
            </a:pPr>
            <a:r>
              <a:rPr sz="2100" b="1">
                <a:solidFill>
                  <a:srgbClr val="F2F3E9"/>
                </a:solidFill>
                <a:latin typeface="Helvetica Neue"/>
                <a:ea typeface="Helvetica Neue"/>
                <a:cs typeface="Helvetica Neue"/>
              </a:rPr>
              <a:t>attempts per mission</a:t>
            </a:r>
          </a:p>
        </p:txBody>
      </p:sp>
      <p:sp>
        <p:nvSpPr>
          <p:cNvPr id="7" name="">
            <a:extLst xmlns:a="http://schemas.openxmlformats.org/drawingml/2006/main">
              <a:ext uri="{FF2B5EF4-FFF2-40B4-BE49-F238E27FC236}">
                <a16:creationId xmlns:a16="http://schemas.microsoft.com/office/drawing/2014/main" id="{BF05C566-DFD0-4DCA-92CC-188B5CF44E0E}"/>
              </a:ext>
            </a:extLst>
          </p:cNvPr>
          <p:cNvSpPr>
            <a:spLocks xmlns:a="http://schemas.openxmlformats.org/drawingml/2006/main" noGrp="1"/>
          </p:cNvSpPr>
          <p:nvPr/>
        </p:nvSpPr>
        <p:spPr>
          <a:xfrm xmlns:a="http://schemas.openxmlformats.org/drawingml/2006/main">
            <a:off x="8439150" y="2076450"/>
            <a:ext cx="2857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150" b="1">
                <a:solidFill>
                  <a:srgbClr val="B7EBD7"/>
                </a:solidFill>
                <a:latin typeface="Helvetica Neue"/>
                <a:ea typeface="Helvetica Neue"/>
                <a:cs typeface="Helvetica Neue"/>
              </a:defRPr>
            </a:pPr>
            <a:r>
              <a:rPr sz="9150" b="1">
                <a:solidFill>
                  <a:srgbClr val="B7EBD7"/>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9438262D-EDCA-4585-89BB-84CEF7BE4CC7}"/>
              </a:ext>
            </a:extLst>
          </p:cNvPr>
          <p:cNvSpPr>
            <a:spLocks xmlns:a="http://schemas.openxmlformats.org/drawingml/2006/main" noGrp="1"/>
          </p:cNvSpPr>
          <p:nvPr/>
        </p:nvSpPr>
        <p:spPr>
          <a:xfrm xmlns:a="http://schemas.openxmlformats.org/drawingml/2006/main">
            <a:off x="8496300" y="3609975"/>
            <a:ext cx="319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2F3E9"/>
                </a:solidFill>
                <a:latin typeface="Helvetica Neue"/>
                <a:ea typeface="Helvetica Neue"/>
                <a:cs typeface="Helvetica Neue"/>
              </a:defRPr>
            </a:pPr>
            <a:r>
              <a:rPr sz="2100" b="1">
                <a:solidFill>
                  <a:srgbClr val="F2F3E9"/>
                </a:solidFill>
                <a:latin typeface="Helvetica Neue"/>
                <a:ea typeface="Helvetica Neue"/>
                <a:cs typeface="Helvetica Neue"/>
              </a:rPr>
              <a:t>best escape per mission</a:t>
            </a:r>
          </a:p>
        </p:txBody>
      </p:sp>
      <p:sp>
        <p:nvSpPr>
          <p:cNvPr id="9" name="">
            <a:extLst xmlns:a="http://schemas.openxmlformats.org/drawingml/2006/main">
              <a:ext uri="{FF2B5EF4-FFF2-40B4-BE49-F238E27FC236}">
                <a16:creationId xmlns:a16="http://schemas.microsoft.com/office/drawing/2014/main" id="{997C191B-BFFF-4F30-84F2-A1FDE0E84972}"/>
              </a:ext>
            </a:extLst>
          </p:cNvPr>
          <p:cNvSpPr>
            <a:spLocks xmlns:a="http://schemas.openxmlformats.org/drawingml/2006/main" noGrp="1"/>
          </p:cNvSpPr>
          <p:nvPr/>
        </p:nvSpPr>
        <p:spPr>
          <a:xfrm xmlns:a="http://schemas.openxmlformats.org/drawingml/2006/main">
            <a:off x="609600" y="4591050"/>
            <a:ext cx="10972800" cy="19050"/>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D497D5C-D853-4069-9078-EAB4D28E70CC}"/>
              </a:ext>
            </a:extLst>
          </p:cNvPr>
          <p:cNvSpPr>
            <a:spLocks xmlns:a="http://schemas.openxmlformats.org/drawingml/2006/main" noGrp="1"/>
          </p:cNvSpPr>
          <p:nvPr/>
        </p:nvSpPr>
        <p:spPr>
          <a:xfrm xmlns:a="http://schemas.openxmlformats.org/drawingml/2006/main">
            <a:off x="609600" y="50101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2F3E9"/>
                </a:solidFill>
                <a:latin typeface="Helvetica Neue"/>
                <a:ea typeface="Helvetica Neue"/>
                <a:cs typeface="Helvetica Neue"/>
              </a:defRPr>
            </a:pPr>
            <a:r>
              <a:rPr sz="2175" b="0">
                <a:solidFill>
                  <a:srgbClr val="F2F3E9"/>
                </a:solidFill>
                <a:latin typeface="Helvetica Neue"/>
                <a:ea typeface="Helvetica Neue"/>
                <a:cs typeface="Helvetica Neue"/>
              </a:rPr>
              <a:t>Game Pass unlocks weekly ranked play.</a:t>
            </a:r>
          </a:p>
          <a:p xmlns:a="http://schemas.openxmlformats.org/drawingml/2006/main">
            <a:pPr>
              <a:defRPr sz="2175" b="0">
                <a:solidFill>
                  <a:srgbClr val="F2F3E9"/>
                </a:solidFill>
                <a:latin typeface="Helvetica Neue"/>
                <a:ea typeface="Helvetica Neue"/>
                <a:cs typeface="Helvetica Neue"/>
              </a:defRPr>
            </a:pPr>
            <a:r>
              <a:rPr sz="2175" b="0">
                <a:solidFill>
                  <a:srgbClr val="F2F3E9"/>
                </a:solidFill>
                <a:latin typeface="Helvetica Neue"/>
                <a:ea typeface="Helvetica Neue"/>
                <a:cs typeface="Helvetica Neue"/>
              </a:rPr>
              <a:t>The server replays runs before accepting scores.</a:t>
            </a:r>
          </a:p>
        </p:txBody>
      </p:sp>
      <p:sp>
        <p:nvSpPr>
          <p:cNvPr id="11" name="">
            <a:extLst xmlns:a="http://schemas.openxmlformats.org/drawingml/2006/main">
              <a:ext uri="{FF2B5EF4-FFF2-40B4-BE49-F238E27FC236}">
                <a16:creationId xmlns:a16="http://schemas.microsoft.com/office/drawing/2014/main" id="{B3489809-1F17-4E0B-887E-EC45274AE838}"/>
              </a:ext>
            </a:extLst>
          </p:cNvPr>
          <p:cNvSpPr>
            <a:spLocks xmlns:a="http://schemas.openxmlformats.org/drawingml/2006/main" noGrp="1"/>
          </p:cNvSpPr>
          <p:nvPr/>
        </p:nvSpPr>
        <p:spPr>
          <a:xfrm xmlns:a="http://schemas.openxmlformats.org/drawingml/2006/main">
            <a:off x="609600" y="60198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4BBB0"/>
                </a:solidFill>
                <a:latin typeface="Helvetica Neue"/>
                <a:ea typeface="Helvetica Neue"/>
                <a:cs typeface="Helvetica Neue"/>
              </a:defRPr>
            </a:pPr>
            <a:r>
              <a:rPr sz="1725" b="0">
                <a:solidFill>
                  <a:srgbClr val="A4BBB0"/>
                </a:solidFill>
                <a:latin typeface="Helvetica Neue"/>
                <a:ea typeface="Helvetica Neue"/>
                <a:cs typeface="Helvetica Neue"/>
              </a:rPr>
              <a:t>Weekly refresh · Cosmetic purchases do not change ranked stats.</a:t>
            </a:r>
          </a:p>
        </p:txBody>
      </p:sp>
      <p:sp>
        <p:nvSpPr>
          <p:cNvPr id="12" name="">
            <a:extLst xmlns:a="http://schemas.openxmlformats.org/drawingml/2006/main">
              <a:ext uri="{FF2B5EF4-FFF2-40B4-BE49-F238E27FC236}">
                <a16:creationId xmlns:a16="http://schemas.microsoft.com/office/drawing/2014/main" id="{74625812-FCAA-4B03-A1B6-EDC1F7AA2231}"/>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666EC6E-E660-4A29-A50C-886ED6AB5CA0}"/>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STEAL A SEEKER  /  CLOCK IN 2026</a:t>
            </a:r>
          </a:p>
        </p:txBody>
      </p:sp>
      <p:sp>
        <p:nvSpPr>
          <p:cNvPr id="14" name="">
            <a:extLst xmlns:a="http://schemas.openxmlformats.org/drawingml/2006/main">
              <a:ext uri="{FF2B5EF4-FFF2-40B4-BE49-F238E27FC236}">
                <a16:creationId xmlns:a16="http://schemas.microsoft.com/office/drawing/2014/main" id="{CCCDEC45-6C20-4043-923B-42AE09DF523D}"/>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06</a:t>
            </a:r>
          </a:p>
        </p:txBody>
      </p:sp>
    </p:spTree>
    <p:extLst>
      <p:ext uri="{BB962C8B-B14F-4D97-AF65-F5344CB8AC3E}">
        <p14:creationId xmlns:p14="http://schemas.microsoft.com/office/powerpoint/2010/main" val="939938403"/>
      </p:ext>
    </p:extLst>
  </p:cSld>
</p:sld>
</file>

<file path=ppt/slides/slide7.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60FBE06-A23A-4F1D-8285-82E6BF10D7B8}"/>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SOLANA INTEGRATION</a:t>
            </a:r>
          </a:p>
        </p:txBody>
      </p:sp>
      <p:sp>
        <p:nvSpPr>
          <p:cNvPr id="2" name="">
            <a:extLst xmlns:a="http://schemas.openxmlformats.org/drawingml/2006/main">
              <a:ext uri="{FF2B5EF4-FFF2-40B4-BE49-F238E27FC236}">
                <a16:creationId xmlns:a16="http://schemas.microsoft.com/office/drawing/2014/main" id="{88C77564-92EB-4DE0-BAE7-C5CB45B113B2}"/>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SKR buys something useful inside the game.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a917283f43d4fff"/>
          <a:stretch xmlns:a="http://schemas.openxmlformats.org/drawingml/2006/main"/>
        </p:blipFill>
        <p:spPr>
          <a:xfrm xmlns:a="http://schemas.openxmlformats.org/drawingml/2006/main">
            <a:off x="804232" y="2085975"/>
            <a:ext cx="896610" cy="1200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AD16657-5021-4BF2-B824-F4C2AA9865A0}"/>
              </a:ext>
            </a:extLst>
          </p:cNvPr>
          <p:cNvSpPr>
            <a:spLocks xmlns:a="http://schemas.openxmlformats.org/drawingml/2006/main" noGrp="1"/>
          </p:cNvSpPr>
          <p:nvPr/>
        </p:nvSpPr>
        <p:spPr>
          <a:xfrm xmlns:a="http://schemas.openxmlformats.org/drawingml/2006/main">
            <a:off x="2181225" y="2238375"/>
            <a:ext cx="91154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B7EBD7"/>
                </a:solidFill>
                <a:latin typeface="Helvetica Neue"/>
                <a:ea typeface="Helvetica Neue"/>
                <a:cs typeface="Helvetica Neue"/>
              </a:defRPr>
            </a:pPr>
            <a:r>
              <a:rPr sz="2700" b="1">
                <a:solidFill>
                  <a:srgbClr val="B7EBD7"/>
                </a:solidFill>
                <a:latin typeface="Helvetica Neue"/>
                <a:ea typeface="Helvetica Neue"/>
                <a:cs typeface="Helvetica Neue"/>
              </a:rPr>
              <a:t>Game Pass + cosmetic unlocks</a:t>
            </a:r>
          </a:p>
        </p:txBody>
      </p:sp>
      <p:sp>
        <p:nvSpPr>
          <p:cNvPr id="5" name="">
            <a:extLst xmlns:a="http://schemas.openxmlformats.org/drawingml/2006/main">
              <a:ext uri="{FF2B5EF4-FFF2-40B4-BE49-F238E27FC236}">
                <a16:creationId xmlns:a16="http://schemas.microsoft.com/office/drawing/2014/main" id="{29CA875E-1678-4E47-94D1-ABD55ABC5EEC}"/>
              </a:ext>
            </a:extLst>
          </p:cNvPr>
          <p:cNvSpPr>
            <a:spLocks xmlns:a="http://schemas.openxmlformats.org/drawingml/2006/main" noGrp="1"/>
          </p:cNvSpPr>
          <p:nvPr/>
        </p:nvSpPr>
        <p:spPr>
          <a:xfrm xmlns:a="http://schemas.openxmlformats.org/drawingml/2006/main">
            <a:off x="2181225" y="2867025"/>
            <a:ext cx="8886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2F3E9"/>
                </a:solidFill>
                <a:latin typeface="Helvetica Neue"/>
                <a:ea typeface="Helvetica Neue"/>
                <a:cs typeface="Helvetica Neue"/>
              </a:defRPr>
            </a:pPr>
            <a:r>
              <a:rPr sz="2100" b="0">
                <a:solidFill>
                  <a:srgbClr val="F2F3E9"/>
                </a:solidFill>
                <a:latin typeface="Helvetica Neue"/>
                <a:ea typeface="Helvetica Neue"/>
                <a:cs typeface="Helvetica Neue"/>
              </a:rPr>
              <a:t>SKR or SOL purchases. A free campaign to start.</a:t>
            </a:r>
          </a:p>
        </p:txBody>
      </p:sp>
      <p:sp>
        <p:nvSpPr>
          <p:cNvPr id="6" name="">
            <a:extLst xmlns:a="http://schemas.openxmlformats.org/drawingml/2006/main">
              <a:ext uri="{FF2B5EF4-FFF2-40B4-BE49-F238E27FC236}">
                <a16:creationId xmlns:a16="http://schemas.microsoft.com/office/drawing/2014/main" id="{D29EE6FA-4ADC-4941-85E0-866213A3C255}"/>
              </a:ext>
            </a:extLst>
          </p:cNvPr>
          <p:cNvSpPr>
            <a:spLocks xmlns:a="http://schemas.openxmlformats.org/drawingml/2006/main" noGrp="1"/>
          </p:cNvSpPr>
          <p:nvPr/>
        </p:nvSpPr>
        <p:spPr>
          <a:xfrm xmlns:a="http://schemas.openxmlformats.org/drawingml/2006/main">
            <a:off x="609600" y="3771900"/>
            <a:ext cx="10972800" cy="19050"/>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4344DB7-B7EF-49E7-9F86-AA8C159B4857}"/>
              </a:ext>
            </a:extLst>
          </p:cNvPr>
          <p:cNvSpPr>
            <a:spLocks xmlns:a="http://schemas.openxmlformats.org/drawingml/2006/main" noGrp="1"/>
          </p:cNvSpPr>
          <p:nvPr/>
        </p:nvSpPr>
        <p:spPr>
          <a:xfrm xmlns:a="http://schemas.openxmlformats.org/drawingml/2006/main">
            <a:off x="609600" y="4162425"/>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7EBD7"/>
                </a:solidFill>
                <a:latin typeface="Helvetica Neue"/>
                <a:ea typeface="Helvetica Neue"/>
                <a:cs typeface="Helvetica Neue"/>
              </a:defRPr>
            </a:pPr>
            <a:r>
              <a:rPr sz="1725" b="1">
                <a:solidFill>
                  <a:srgbClr val="B7EBD7"/>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309CD09F-FD4D-43FE-86E6-04EBE899A333}"/>
              </a:ext>
            </a:extLst>
          </p:cNvPr>
          <p:cNvSpPr>
            <a:spLocks xmlns:a="http://schemas.openxmlformats.org/drawingml/2006/main" noGrp="1"/>
          </p:cNvSpPr>
          <p:nvPr/>
        </p:nvSpPr>
        <p:spPr>
          <a:xfrm xmlns:a="http://schemas.openxmlformats.org/drawingml/2006/main">
            <a:off x="609600" y="463867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2F3E9"/>
                </a:solidFill>
                <a:latin typeface="Helvetica Neue"/>
                <a:ea typeface="Helvetica Neue"/>
                <a:cs typeface="Helvetica Neue"/>
              </a:defRPr>
            </a:pPr>
            <a:r>
              <a:rPr sz="2475" b="1">
                <a:solidFill>
                  <a:srgbClr val="F2F3E9"/>
                </a:solidFill>
                <a:latin typeface="Helvetica Neue"/>
                <a:ea typeface="Helvetica Neue"/>
                <a:cs typeface="Helvetica Neue"/>
              </a:rPr>
              <a:t>Choose</a:t>
            </a:r>
          </a:p>
        </p:txBody>
      </p:sp>
      <p:sp>
        <p:nvSpPr>
          <p:cNvPr id="9" name="">
            <a:extLst xmlns:a="http://schemas.openxmlformats.org/drawingml/2006/main">
              <a:ext uri="{FF2B5EF4-FFF2-40B4-BE49-F238E27FC236}">
                <a16:creationId xmlns:a16="http://schemas.microsoft.com/office/drawing/2014/main" id="{F6E70DC2-1F0A-4F9A-A9DB-D47A86144CBD}"/>
              </a:ext>
            </a:extLst>
          </p:cNvPr>
          <p:cNvSpPr>
            <a:spLocks xmlns:a="http://schemas.openxmlformats.org/drawingml/2006/main" noGrp="1"/>
          </p:cNvSpPr>
          <p:nvPr/>
        </p:nvSpPr>
        <p:spPr>
          <a:xfrm xmlns:a="http://schemas.openxmlformats.org/drawingml/2006/main">
            <a:off x="609600" y="5276850"/>
            <a:ext cx="335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4BBB0"/>
                </a:solidFill>
                <a:latin typeface="Helvetica Neue"/>
                <a:ea typeface="Helvetica Neue"/>
                <a:cs typeface="Helvetica Neue"/>
              </a:defRPr>
            </a:pPr>
            <a:r>
              <a:rPr sz="1875" b="0">
                <a:solidFill>
                  <a:srgbClr val="A4BBB0"/>
                </a:solidFill>
                <a:latin typeface="Helvetica Neue"/>
                <a:ea typeface="Helvetica Neue"/>
                <a:cs typeface="Helvetica Neue"/>
              </a:rPr>
              <a:t>Live price in the app.</a:t>
            </a:r>
          </a:p>
        </p:txBody>
      </p:sp>
      <p:sp>
        <p:nvSpPr>
          <p:cNvPr id="10" name="">
            <a:extLst xmlns:a="http://schemas.openxmlformats.org/drawingml/2006/main">
              <a:ext uri="{FF2B5EF4-FFF2-40B4-BE49-F238E27FC236}">
                <a16:creationId xmlns:a16="http://schemas.microsoft.com/office/drawing/2014/main" id="{772955DA-57EE-467E-A01E-D42234F8F3D3}"/>
              </a:ext>
            </a:extLst>
          </p:cNvPr>
          <p:cNvSpPr>
            <a:spLocks xmlns:a="http://schemas.openxmlformats.org/drawingml/2006/main" noGrp="1"/>
          </p:cNvSpPr>
          <p:nvPr/>
        </p:nvSpPr>
        <p:spPr>
          <a:xfrm xmlns:a="http://schemas.openxmlformats.org/drawingml/2006/main">
            <a:off x="4352925" y="4162425"/>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7EBD7"/>
                </a:solidFill>
                <a:latin typeface="Helvetica Neue"/>
                <a:ea typeface="Helvetica Neue"/>
                <a:cs typeface="Helvetica Neue"/>
              </a:defRPr>
            </a:pPr>
            <a:r>
              <a:rPr sz="1725" b="1">
                <a:solidFill>
                  <a:srgbClr val="B7EBD7"/>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9729A415-4B97-489D-B505-C2A1A7091342}"/>
              </a:ext>
            </a:extLst>
          </p:cNvPr>
          <p:cNvSpPr>
            <a:spLocks xmlns:a="http://schemas.openxmlformats.org/drawingml/2006/main" noGrp="1"/>
          </p:cNvSpPr>
          <p:nvPr/>
        </p:nvSpPr>
        <p:spPr>
          <a:xfrm xmlns:a="http://schemas.openxmlformats.org/drawingml/2006/main">
            <a:off x="4352925" y="463867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2F3E9"/>
                </a:solidFill>
                <a:latin typeface="Helvetica Neue"/>
                <a:ea typeface="Helvetica Neue"/>
                <a:cs typeface="Helvetica Neue"/>
              </a:defRPr>
            </a:pPr>
            <a:r>
              <a:rPr sz="2475" b="1">
                <a:solidFill>
                  <a:srgbClr val="F2F3E9"/>
                </a:solidFill>
                <a:latin typeface="Helvetica Neue"/>
                <a:ea typeface="Helvetica Neue"/>
                <a:cs typeface="Helvetica Neue"/>
              </a:rPr>
              <a:t>Approve</a:t>
            </a:r>
          </a:p>
        </p:txBody>
      </p:sp>
      <p:sp>
        <p:nvSpPr>
          <p:cNvPr id="12" name="">
            <a:extLst xmlns:a="http://schemas.openxmlformats.org/drawingml/2006/main">
              <a:ext uri="{FF2B5EF4-FFF2-40B4-BE49-F238E27FC236}">
                <a16:creationId xmlns:a16="http://schemas.microsoft.com/office/drawing/2014/main" id="{61B5F5BA-4F16-4A36-9457-5C59D1918943}"/>
              </a:ext>
            </a:extLst>
          </p:cNvPr>
          <p:cNvSpPr>
            <a:spLocks xmlns:a="http://schemas.openxmlformats.org/drawingml/2006/main" noGrp="1"/>
          </p:cNvSpPr>
          <p:nvPr/>
        </p:nvSpPr>
        <p:spPr>
          <a:xfrm xmlns:a="http://schemas.openxmlformats.org/drawingml/2006/main">
            <a:off x="4352925" y="5276850"/>
            <a:ext cx="335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4BBB0"/>
                </a:solidFill>
                <a:latin typeface="Helvetica Neue"/>
                <a:ea typeface="Helvetica Neue"/>
                <a:cs typeface="Helvetica Neue"/>
              </a:defRPr>
            </a:pPr>
            <a:r>
              <a:rPr sz="1875" b="0">
                <a:solidFill>
                  <a:srgbClr val="A4BBB0"/>
                </a:solidFill>
                <a:latin typeface="Helvetica Neue"/>
                <a:ea typeface="Helvetica Neue"/>
                <a:cs typeface="Helvetica Neue"/>
              </a:rPr>
              <a:t>Mobile Wallet Adapter.</a:t>
            </a:r>
          </a:p>
        </p:txBody>
      </p:sp>
      <p:sp>
        <p:nvSpPr>
          <p:cNvPr id="13" name="">
            <a:extLst xmlns:a="http://schemas.openxmlformats.org/drawingml/2006/main">
              <a:ext uri="{FF2B5EF4-FFF2-40B4-BE49-F238E27FC236}">
                <a16:creationId xmlns:a16="http://schemas.microsoft.com/office/drawing/2014/main" id="{03A4521A-5A80-40B6-ACDB-2B26CD2D5BB7}"/>
              </a:ext>
            </a:extLst>
          </p:cNvPr>
          <p:cNvSpPr>
            <a:spLocks xmlns:a="http://schemas.openxmlformats.org/drawingml/2006/main" noGrp="1"/>
          </p:cNvSpPr>
          <p:nvPr/>
        </p:nvSpPr>
        <p:spPr>
          <a:xfrm xmlns:a="http://schemas.openxmlformats.org/drawingml/2006/main">
            <a:off x="8096250" y="4162425"/>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7EBD7"/>
                </a:solidFill>
                <a:latin typeface="Helvetica Neue"/>
                <a:ea typeface="Helvetica Neue"/>
                <a:cs typeface="Helvetica Neue"/>
              </a:defRPr>
            </a:pPr>
            <a:r>
              <a:rPr sz="1725" b="1">
                <a:solidFill>
                  <a:srgbClr val="B7EBD7"/>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BA83A3D4-427A-4AE4-BF6D-96765EBCE80F}"/>
              </a:ext>
            </a:extLst>
          </p:cNvPr>
          <p:cNvSpPr>
            <a:spLocks xmlns:a="http://schemas.openxmlformats.org/drawingml/2006/main" noGrp="1"/>
          </p:cNvSpPr>
          <p:nvPr/>
        </p:nvSpPr>
        <p:spPr>
          <a:xfrm xmlns:a="http://schemas.openxmlformats.org/drawingml/2006/main">
            <a:off x="8096250" y="463867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2F3E9"/>
                </a:solidFill>
                <a:latin typeface="Helvetica Neue"/>
                <a:ea typeface="Helvetica Neue"/>
                <a:cs typeface="Helvetica Neue"/>
              </a:defRPr>
            </a:pPr>
            <a:r>
              <a:rPr sz="2475" b="1">
                <a:solidFill>
                  <a:srgbClr val="F2F3E9"/>
                </a:solidFill>
                <a:latin typeface="Helvetica Neue"/>
                <a:ea typeface="Helvetica Neue"/>
                <a:cs typeface="Helvetica Neue"/>
              </a:rPr>
              <a:t>Confirm</a:t>
            </a:r>
          </a:p>
        </p:txBody>
      </p:sp>
      <p:sp>
        <p:nvSpPr>
          <p:cNvPr id="15" name="">
            <a:extLst xmlns:a="http://schemas.openxmlformats.org/drawingml/2006/main">
              <a:ext uri="{FF2B5EF4-FFF2-40B4-BE49-F238E27FC236}">
                <a16:creationId xmlns:a16="http://schemas.microsoft.com/office/drawing/2014/main" id="{DFA50CE8-7A60-4E13-92B9-946A7837050A}"/>
              </a:ext>
            </a:extLst>
          </p:cNvPr>
          <p:cNvSpPr>
            <a:spLocks xmlns:a="http://schemas.openxmlformats.org/drawingml/2006/main" noGrp="1"/>
          </p:cNvSpPr>
          <p:nvPr/>
        </p:nvSpPr>
        <p:spPr>
          <a:xfrm xmlns:a="http://schemas.openxmlformats.org/drawingml/2006/main">
            <a:off x="8096250" y="5276850"/>
            <a:ext cx="335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4BBB0"/>
                </a:solidFill>
                <a:latin typeface="Helvetica Neue"/>
                <a:ea typeface="Helvetica Neue"/>
                <a:cs typeface="Helvetica Neue"/>
              </a:defRPr>
            </a:pPr>
            <a:r>
              <a:rPr sz="1875" b="0">
                <a:solidFill>
                  <a:srgbClr val="A4BBB0"/>
                </a:solidFill>
                <a:latin typeface="Helvetica Neue"/>
                <a:ea typeface="Helvetica Neue"/>
                <a:cs typeface="Helvetica Neue"/>
              </a:rPr>
              <a:t>Backend checks the receipt.</a:t>
            </a:r>
          </a:p>
        </p:txBody>
      </p:sp>
      <p:sp>
        <p:nvSpPr>
          <p:cNvPr id="16" name="">
            <a:extLst xmlns:a="http://schemas.openxmlformats.org/drawingml/2006/main">
              <a:ext uri="{FF2B5EF4-FFF2-40B4-BE49-F238E27FC236}">
                <a16:creationId xmlns:a16="http://schemas.microsoft.com/office/drawing/2014/main" id="{E5BD135F-2B31-4A17-9CD5-8ADD9AB55C9D}"/>
              </a:ext>
            </a:extLst>
          </p:cNvPr>
          <p:cNvSpPr>
            <a:spLocks xmlns:a="http://schemas.openxmlformats.org/drawingml/2006/main" noGrp="1"/>
          </p:cNvSpPr>
          <p:nvPr/>
        </p:nvSpPr>
        <p:spPr>
          <a:xfrm xmlns:a="http://schemas.openxmlformats.org/drawingml/2006/main">
            <a:off x="609600" y="60388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7EBD7"/>
                </a:solidFill>
                <a:latin typeface="Helvetica Neue"/>
                <a:ea typeface="Helvetica Neue"/>
                <a:cs typeface="Helvetica Neue"/>
              </a:defRPr>
            </a:pPr>
            <a:r>
              <a:rPr sz="1725" b="0">
                <a:solidFill>
                  <a:srgbClr val="B7EBD7"/>
                </a:solidFill>
                <a:latin typeface="Helvetica Neue"/>
                <a:ea typeface="Helvetica Neue"/>
                <a:cs typeface="Helvetica Neue"/>
              </a:rPr>
              <a:t>Mainnet payments · Wallet sign-and-send · Purchases can be restored</a:t>
            </a:r>
          </a:p>
        </p:txBody>
      </p:sp>
      <p:sp>
        <p:nvSpPr>
          <p:cNvPr id="17" name="">
            <a:extLst xmlns:a="http://schemas.openxmlformats.org/drawingml/2006/main">
              <a:ext uri="{FF2B5EF4-FFF2-40B4-BE49-F238E27FC236}">
                <a16:creationId xmlns:a16="http://schemas.microsoft.com/office/drawing/2014/main" id="{1EB635F5-518D-4C65-8992-C9AA70DA4D3D}"/>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CE6BDE2-4C0C-4666-8AFA-9A71540E0F7C}"/>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STEAL A SEEKER  /  CLOCK IN 2026</a:t>
            </a:r>
          </a:p>
        </p:txBody>
      </p:sp>
      <p:sp>
        <p:nvSpPr>
          <p:cNvPr id="19" name="">
            <a:extLst xmlns:a="http://schemas.openxmlformats.org/drawingml/2006/main">
              <a:ext uri="{FF2B5EF4-FFF2-40B4-BE49-F238E27FC236}">
                <a16:creationId xmlns:a16="http://schemas.microsoft.com/office/drawing/2014/main" id="{5DA27BFA-7AC1-4230-BC8E-CD63C6850468}"/>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07</a:t>
            </a:r>
          </a:p>
        </p:txBody>
      </p:sp>
    </p:spTree>
    <p:extLst>
      <p:ext uri="{BB962C8B-B14F-4D97-AF65-F5344CB8AC3E}">
        <p14:creationId xmlns:p14="http://schemas.microsoft.com/office/powerpoint/2010/main" val="1383668457"/>
      </p:ext>
    </p:extLst>
  </p:cSld>
</p:sld>
</file>

<file path=ppt/slides/slide8.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418E30D-227F-407D-9F54-6D3BEAAE5B23}"/>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STORE RELEASE</a:t>
            </a:r>
          </a:p>
        </p:txBody>
      </p:sp>
      <p:sp>
        <p:nvSpPr>
          <p:cNvPr id="2" name="">
            <a:extLst xmlns:a="http://schemas.openxmlformats.org/drawingml/2006/main">
              <a:ext uri="{FF2B5EF4-FFF2-40B4-BE49-F238E27FC236}">
                <a16:creationId xmlns:a16="http://schemas.microsoft.com/office/drawing/2014/main" id="{8958203E-8BE8-416C-998A-536402E66082}"/>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Live in the Solana dApp Store.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b12ab4fdffe4f65"/>
          <a:stretch xmlns:a="http://schemas.openxmlformats.org/drawingml/2006/main"/>
        </p:blipFill>
        <p:spPr>
          <a:xfrm xmlns:a="http://schemas.openxmlformats.org/drawingml/2006/main">
            <a:off x="620420" y="1981200"/>
            <a:ext cx="7788860" cy="4210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803B96E-22AB-49A0-B541-B14E096F73B5}"/>
              </a:ext>
            </a:extLst>
          </p:cNvPr>
          <p:cNvSpPr>
            <a:spLocks xmlns:a="http://schemas.openxmlformats.org/drawingml/2006/main" noGrp="1"/>
          </p:cNvSpPr>
          <p:nvPr/>
        </p:nvSpPr>
        <p:spPr>
          <a:xfrm xmlns:a="http://schemas.openxmlformats.org/drawingml/2006/main">
            <a:off x="8877300" y="2105025"/>
            <a:ext cx="285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7EBD7"/>
                </a:solidFill>
                <a:latin typeface="Helvetica Neue"/>
                <a:ea typeface="Helvetica Neue"/>
                <a:cs typeface="Helvetica Neue"/>
              </a:defRPr>
            </a:pPr>
            <a:r>
              <a:rPr sz="3375" b="1">
                <a:solidFill>
                  <a:srgbClr val="B7EBD7"/>
                </a:solidFill>
                <a:latin typeface="Helvetica Neue"/>
                <a:ea typeface="Helvetica Neue"/>
                <a:cs typeface="Helvetica Neue"/>
              </a:rPr>
              <a:t>v0.3.30</a:t>
            </a:r>
          </a:p>
        </p:txBody>
      </p:sp>
      <p:sp>
        <p:nvSpPr>
          <p:cNvPr id="5" name="">
            <a:extLst xmlns:a="http://schemas.openxmlformats.org/drawingml/2006/main">
              <a:ext uri="{FF2B5EF4-FFF2-40B4-BE49-F238E27FC236}">
                <a16:creationId xmlns:a16="http://schemas.microsoft.com/office/drawing/2014/main" id="{7DCCD351-EB41-4B92-B7CC-7611826785A2}"/>
              </a:ext>
            </a:extLst>
          </p:cNvPr>
          <p:cNvSpPr>
            <a:spLocks xmlns:a="http://schemas.openxmlformats.org/drawingml/2006/main" noGrp="1"/>
          </p:cNvSpPr>
          <p:nvPr/>
        </p:nvSpPr>
        <p:spPr>
          <a:xfrm xmlns:a="http://schemas.openxmlformats.org/drawingml/2006/main">
            <a:off x="8877300" y="2762250"/>
            <a:ext cx="266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4BBB0"/>
                </a:solidFill>
                <a:latin typeface="Helvetica Neue"/>
                <a:ea typeface="Helvetica Neue"/>
                <a:cs typeface="Helvetica Neue"/>
              </a:defRPr>
            </a:pPr>
            <a:r>
              <a:rPr sz="1725" b="0">
                <a:solidFill>
                  <a:srgbClr val="A4BBB0"/>
                </a:solidFill>
                <a:latin typeface="Helvetica Neue"/>
                <a:ea typeface="Helvetica Neue"/>
                <a:cs typeface="Helvetica Neue"/>
              </a:rPr>
              <a:t>Live since 25 Sep 2026</a:t>
            </a:r>
          </a:p>
        </p:txBody>
      </p:sp>
      <p:sp>
        <p:nvSpPr>
          <p:cNvPr id="6" name="">
            <a:extLst xmlns:a="http://schemas.openxmlformats.org/drawingml/2006/main">
              <a:ext uri="{FF2B5EF4-FFF2-40B4-BE49-F238E27FC236}">
                <a16:creationId xmlns:a16="http://schemas.microsoft.com/office/drawing/2014/main" id="{CC5B5647-1A6E-4243-96E5-10E44ADA2C11}"/>
              </a:ext>
            </a:extLst>
          </p:cNvPr>
          <p:cNvSpPr>
            <a:spLocks xmlns:a="http://schemas.openxmlformats.org/drawingml/2006/main" noGrp="1"/>
          </p:cNvSpPr>
          <p:nvPr/>
        </p:nvSpPr>
        <p:spPr>
          <a:xfrm xmlns:a="http://schemas.openxmlformats.org/drawingml/2006/main">
            <a:off x="8877300" y="3581400"/>
            <a:ext cx="266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25</a:t>
            </a:r>
          </a:p>
        </p:txBody>
      </p:sp>
      <p:sp>
        <p:nvSpPr>
          <p:cNvPr id="7" name="">
            <a:extLst xmlns:a="http://schemas.openxmlformats.org/drawingml/2006/main">
              <a:ext uri="{FF2B5EF4-FFF2-40B4-BE49-F238E27FC236}">
                <a16:creationId xmlns:a16="http://schemas.microsoft.com/office/drawing/2014/main" id="{39A729CC-FD35-4B4B-8BFF-B2556ACF7A98}"/>
              </a:ext>
            </a:extLst>
          </p:cNvPr>
          <p:cNvSpPr>
            <a:spLocks xmlns:a="http://schemas.openxmlformats.org/drawingml/2006/main" noGrp="1"/>
          </p:cNvSpPr>
          <p:nvPr/>
        </p:nvSpPr>
        <p:spPr>
          <a:xfrm xmlns:a="http://schemas.openxmlformats.org/drawingml/2006/main">
            <a:off x="8877300" y="4238625"/>
            <a:ext cx="266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4BBB0"/>
                </a:solidFill>
                <a:latin typeface="Helvetica Neue"/>
                <a:ea typeface="Helvetica Neue"/>
                <a:cs typeface="Helvetica Neue"/>
              </a:defRPr>
            </a:pPr>
            <a:r>
              <a:rPr sz="1650" b="0">
                <a:solidFill>
                  <a:srgbClr val="A4BBB0"/>
                </a:solidFill>
                <a:latin typeface="Helvetica Neue"/>
                <a:ea typeface="Helvetica Neue"/>
                <a:cs typeface="Helvetica Neue"/>
              </a:rPr>
              <a:t>installs · last 7 days</a:t>
            </a:r>
          </a:p>
        </p:txBody>
      </p:sp>
      <p:sp>
        <p:nvSpPr>
          <p:cNvPr id="8" name="">
            <a:extLst xmlns:a="http://schemas.openxmlformats.org/drawingml/2006/main">
              <a:ext uri="{FF2B5EF4-FFF2-40B4-BE49-F238E27FC236}">
                <a16:creationId xmlns:a16="http://schemas.microsoft.com/office/drawing/2014/main" id="{65518D0B-F28B-4343-A6E6-F60ADA7858E9}"/>
              </a:ext>
            </a:extLst>
          </p:cNvPr>
          <p:cNvSpPr>
            <a:spLocks xmlns:a="http://schemas.openxmlformats.org/drawingml/2006/main" noGrp="1"/>
          </p:cNvSpPr>
          <p:nvPr/>
        </p:nvSpPr>
        <p:spPr>
          <a:xfrm xmlns:a="http://schemas.openxmlformats.org/drawingml/2006/main">
            <a:off x="8877300" y="5133975"/>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F3E9"/>
                </a:solidFill>
                <a:latin typeface="Helvetica Neue"/>
                <a:ea typeface="Helvetica Neue"/>
                <a:cs typeface="Helvetica Neue"/>
              </a:defRPr>
            </a:pPr>
            <a:r>
              <a:rPr sz="3000" b="1">
                <a:solidFill>
                  <a:srgbClr val="F2F3E9"/>
                </a:solidFill>
                <a:latin typeface="Helvetica Neue"/>
                <a:ea typeface="Helvetica Neue"/>
                <a:cs typeface="Helvetica Neue"/>
              </a:rPr>
              <a:t>4.0 / 5</a:t>
            </a:r>
          </a:p>
        </p:txBody>
      </p:sp>
      <p:sp>
        <p:nvSpPr>
          <p:cNvPr id="9" name="">
            <a:extLst xmlns:a="http://schemas.openxmlformats.org/drawingml/2006/main">
              <a:ext uri="{FF2B5EF4-FFF2-40B4-BE49-F238E27FC236}">
                <a16:creationId xmlns:a16="http://schemas.microsoft.com/office/drawing/2014/main" id="{249CFA4B-6E02-4F5C-94C0-4AAFB789CBF9}"/>
              </a:ext>
            </a:extLst>
          </p:cNvPr>
          <p:cNvSpPr>
            <a:spLocks xmlns:a="http://schemas.openxmlformats.org/drawingml/2006/main" noGrp="1"/>
          </p:cNvSpPr>
          <p:nvPr/>
        </p:nvSpPr>
        <p:spPr>
          <a:xfrm xmlns:a="http://schemas.openxmlformats.org/drawingml/2006/main">
            <a:off x="8877300" y="568642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4BBB0"/>
                </a:solidFill>
                <a:latin typeface="Helvetica Neue"/>
                <a:ea typeface="Helvetica Neue"/>
                <a:cs typeface="Helvetica Neue"/>
              </a:defRPr>
            </a:pPr>
            <a:r>
              <a:rPr sz="1725" b="0">
                <a:solidFill>
                  <a:srgbClr val="A4BBB0"/>
                </a:solidFill>
                <a:latin typeface="Helvetica Neue"/>
                <a:ea typeface="Helvetica Neue"/>
                <a:cs typeface="Helvetica Neue"/>
              </a:rPr>
              <a:t>from 1 review</a:t>
            </a:r>
          </a:p>
        </p:txBody>
      </p:sp>
      <p:sp>
        <p:nvSpPr>
          <p:cNvPr id="10" name="">
            <a:extLst xmlns:a="http://schemas.openxmlformats.org/drawingml/2006/main">
              <a:ext uri="{FF2B5EF4-FFF2-40B4-BE49-F238E27FC236}">
                <a16:creationId xmlns:a16="http://schemas.microsoft.com/office/drawing/2014/main" id="{A80DE018-B106-4D89-99DB-09B381B2581C}"/>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7D2A8E3-946B-425C-88C0-EEE0D111BEEA}"/>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PUBLISHER DASHBOARD SNAPSHOT SUPPLIED 27 SEP 2026</a:t>
            </a:r>
          </a:p>
        </p:txBody>
      </p:sp>
      <p:sp>
        <p:nvSpPr>
          <p:cNvPr id="12" name="">
            <a:extLst xmlns:a="http://schemas.openxmlformats.org/drawingml/2006/main">
              <a:ext uri="{FF2B5EF4-FFF2-40B4-BE49-F238E27FC236}">
                <a16:creationId xmlns:a16="http://schemas.microsoft.com/office/drawing/2014/main" id="{747D73A5-7C9A-41ED-AD3D-ACA000DBA7FD}"/>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08</a:t>
            </a:r>
          </a:p>
        </p:txBody>
      </p:sp>
    </p:spTree>
    <p:extLst>
      <p:ext uri="{BB962C8B-B14F-4D97-AF65-F5344CB8AC3E}">
        <p14:creationId xmlns:p14="http://schemas.microsoft.com/office/powerpoint/2010/main" val="717511297"/>
      </p:ext>
    </p:extLst>
  </p:cSld>
</p:sld>
</file>

<file path=ppt/slides/slide9.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9A51D7C-E748-4016-93AE-BB32ED76E59C}"/>
              </a:ext>
            </a:extLst>
          </p:cNvPr>
          <p:cNvSpPr>
            <a:spLocks xmlns:a="http://schemas.openxmlformats.org/drawingml/2006/main" noGrp="1"/>
          </p:cNvSpPr>
          <p:nvPr/>
        </p:nvSpPr>
        <p:spPr>
          <a:xfrm xmlns:a="http://schemas.openxmlformats.org/drawingml/2006/main">
            <a:off x="609600" y="3619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LEARNING FROM REAL PLAYERS</a:t>
            </a:r>
          </a:p>
        </p:txBody>
      </p:sp>
      <p:sp>
        <p:nvSpPr>
          <p:cNvPr id="2" name="">
            <a:extLst xmlns:a="http://schemas.openxmlformats.org/drawingml/2006/main">
              <a:ext uri="{FF2B5EF4-FFF2-40B4-BE49-F238E27FC236}">
                <a16:creationId xmlns:a16="http://schemas.microsoft.com/office/drawing/2014/main" id="{78D768CD-B9F9-412E-B623-08F042E27153}"/>
              </a:ext>
            </a:extLst>
          </p:cNvPr>
          <p:cNvSpPr>
            <a:spLocks xmlns:a="http://schemas.openxmlformats.org/drawingml/2006/main" noGrp="1"/>
          </p:cNvSpPr>
          <p:nvPr/>
        </p:nvSpPr>
        <p:spPr>
          <a:xfrm xmlns:a="http://schemas.openxmlformats.org/drawingml/2006/main">
            <a:off x="609600" y="85725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2F3E9"/>
                </a:solidFill>
                <a:latin typeface="Helvetica Neue"/>
                <a:ea typeface="Helvetica Neue"/>
                <a:cs typeface="Helvetica Neue"/>
              </a:defRPr>
            </a:pPr>
            <a:r>
              <a:rPr sz="3600" b="1">
                <a:solidFill>
                  <a:srgbClr val="F2F3E9"/>
                </a:solidFill>
                <a:latin typeface="Helvetica Neue"/>
                <a:ea typeface="Helvetica Neue"/>
                <a:cs typeface="Helvetica Neue"/>
              </a:rPr>
              <a:t>The first review exposed the right problem.</a:t>
            </a:r>
          </a:p>
        </p:txBody>
      </p:sp>
      <p:sp>
        <p:nvSpPr>
          <p:cNvPr id="3" name="">
            <a:extLst xmlns:a="http://schemas.openxmlformats.org/drawingml/2006/main">
              <a:ext uri="{FF2B5EF4-FFF2-40B4-BE49-F238E27FC236}">
                <a16:creationId xmlns:a16="http://schemas.microsoft.com/office/drawing/2014/main" id="{435AD5CE-0F82-4CDF-A64C-00B58F31D704}"/>
              </a:ext>
            </a:extLst>
          </p:cNvPr>
          <p:cNvSpPr>
            <a:spLocks xmlns:a="http://schemas.openxmlformats.org/drawingml/2006/main" noGrp="1"/>
          </p:cNvSpPr>
          <p:nvPr/>
        </p:nvSpPr>
        <p:spPr>
          <a:xfrm xmlns:a="http://schemas.openxmlformats.org/drawingml/2006/main">
            <a:off x="609600" y="21145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B7EBD7"/>
                </a:solidFill>
                <a:latin typeface="Helvetica Neue"/>
                <a:ea typeface="Helvetica Neue"/>
                <a:cs typeface="Helvetica Neue"/>
              </a:defRPr>
            </a:pPr>
            <a:r>
              <a:rPr sz="3450" b="1">
                <a:solidFill>
                  <a:srgbClr val="B7EBD7"/>
                </a:solidFill>
                <a:latin typeface="Helvetica Neue"/>
                <a:ea typeface="Helvetica Neue"/>
                <a:cs typeface="Helvetica Neue"/>
              </a:rPr>
              <a:t>“It is too easy in my opinion.”</a:t>
            </a:r>
          </a:p>
        </p:txBody>
      </p:sp>
      <p:sp>
        <p:nvSpPr>
          <p:cNvPr id="4" name="">
            <a:extLst xmlns:a="http://schemas.openxmlformats.org/drawingml/2006/main">
              <a:ext uri="{FF2B5EF4-FFF2-40B4-BE49-F238E27FC236}">
                <a16:creationId xmlns:a16="http://schemas.microsoft.com/office/drawing/2014/main" id="{45EF4738-584E-48A3-B378-47FA58668858}"/>
              </a:ext>
            </a:extLst>
          </p:cNvPr>
          <p:cNvSpPr>
            <a:spLocks xmlns:a="http://schemas.openxmlformats.org/drawingml/2006/main" noGrp="1"/>
          </p:cNvSpPr>
          <p:nvPr/>
        </p:nvSpPr>
        <p:spPr>
          <a:xfrm xmlns:a="http://schemas.openxmlformats.org/drawingml/2006/main">
            <a:off x="638175" y="30765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4BBB0"/>
                </a:solidFill>
                <a:latin typeface="Helvetica Neue"/>
                <a:ea typeface="Helvetica Neue"/>
                <a:cs typeface="Helvetica Neue"/>
              </a:defRPr>
            </a:pPr>
            <a:r>
              <a:rPr sz="1725" b="0">
                <a:solidFill>
                  <a:srgbClr val="A4BBB0"/>
                </a:solidFill>
                <a:latin typeface="Helvetica Neue"/>
                <a:ea typeface="Helvetica Neue"/>
                <a:cs typeface="Helvetica Neue"/>
              </a:rPr>
              <a:t>brokengrind.skr  ·  23 Sep 2026  ·  4/5</a:t>
            </a:r>
          </a:p>
        </p:txBody>
      </p:sp>
      <p:sp>
        <p:nvSpPr>
          <p:cNvPr id="5" name="">
            <a:extLst xmlns:a="http://schemas.openxmlformats.org/drawingml/2006/main">
              <a:ext uri="{FF2B5EF4-FFF2-40B4-BE49-F238E27FC236}">
                <a16:creationId xmlns:a16="http://schemas.microsoft.com/office/drawing/2014/main" id="{9CE8F2FD-E5FC-49AA-9E7D-9360A7111324}"/>
              </a:ext>
            </a:extLst>
          </p:cNvPr>
          <p:cNvSpPr>
            <a:spLocks xmlns:a="http://schemas.openxmlformats.org/drawingml/2006/main" noGrp="1"/>
          </p:cNvSpPr>
          <p:nvPr/>
        </p:nvSpPr>
        <p:spPr>
          <a:xfrm xmlns:a="http://schemas.openxmlformats.org/drawingml/2006/main">
            <a:off x="609600" y="3857625"/>
            <a:ext cx="10972800" cy="19050"/>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5A855CF-A7A5-4580-9DB2-90CB981C826A}"/>
              </a:ext>
            </a:extLst>
          </p:cNvPr>
          <p:cNvSpPr>
            <a:spLocks xmlns:a="http://schemas.openxmlformats.org/drawingml/2006/main" noGrp="1"/>
          </p:cNvSpPr>
          <p:nvPr/>
        </p:nvSpPr>
        <p:spPr>
          <a:xfrm xmlns:a="http://schemas.openxmlformats.org/drawingml/2006/main">
            <a:off x="609600" y="4257675"/>
            <a:ext cx="476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2F3E9"/>
                </a:solidFill>
                <a:latin typeface="Helvetica Neue"/>
                <a:ea typeface="Helvetica Neue"/>
                <a:cs typeface="Helvetica Neue"/>
              </a:defRPr>
            </a:pPr>
            <a:r>
              <a:rPr sz="2400" b="1">
                <a:solidFill>
                  <a:srgbClr val="F2F3E9"/>
                </a:solidFill>
                <a:latin typeface="Helvetica Neue"/>
                <a:ea typeface="Helvetica Neue"/>
                <a:cs typeface="Helvetica Neue"/>
              </a:rPr>
              <a:t>What changed</a:t>
            </a:r>
          </a:p>
        </p:txBody>
      </p:sp>
      <p:sp>
        <p:nvSpPr>
          <p:cNvPr id="7" name="">
            <a:extLst xmlns:a="http://schemas.openxmlformats.org/drawingml/2006/main">
              <a:ext uri="{FF2B5EF4-FFF2-40B4-BE49-F238E27FC236}">
                <a16:creationId xmlns:a16="http://schemas.microsoft.com/office/drawing/2014/main" id="{41DF39B9-5CA7-4C8C-A2FA-E47A6F5CFEC0}"/>
              </a:ext>
            </a:extLst>
          </p:cNvPr>
          <p:cNvSpPr>
            <a:spLocks xmlns:a="http://schemas.openxmlformats.org/drawingml/2006/main" noGrp="1"/>
          </p:cNvSpPr>
          <p:nvPr/>
        </p:nvSpPr>
        <p:spPr>
          <a:xfrm xmlns:a="http://schemas.openxmlformats.org/drawingml/2006/main">
            <a:off x="609600" y="4943475"/>
            <a:ext cx="5429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2F3E9"/>
                </a:solidFill>
                <a:latin typeface="Helvetica Neue"/>
                <a:ea typeface="Helvetica Neue"/>
                <a:cs typeface="Helvetica Neue"/>
              </a:defRPr>
            </a:pPr>
            <a:r>
              <a:rPr sz="1950" b="0">
                <a:solidFill>
                  <a:srgbClr val="F2F3E9"/>
                </a:solidFill>
                <a:latin typeface="Helvetica Neue"/>
                <a:ea typeface="Helvetica Neue"/>
                <a:cs typeface="Helvetica Neue"/>
              </a:rPr>
              <a:t>Shared alerts and persistent pursuit.</a:t>
            </a:r>
          </a:p>
          <a:p xmlns:a="http://schemas.openxmlformats.org/drawingml/2006/main">
            <a:pPr>
              <a:defRPr sz="1950" b="0">
                <a:solidFill>
                  <a:srgbClr val="F2F3E9"/>
                </a:solidFill>
                <a:latin typeface="Helvetica Neue"/>
                <a:ea typeface="Helvetica Neue"/>
                <a:cs typeface="Helvetica Neue"/>
              </a:defRPr>
            </a:pPr>
            <a:r>
              <a:rPr sz="1950" b="0">
                <a:solidFill>
                  <a:srgbClr val="F2F3E9"/>
                </a:solidFill>
                <a:latin typeface="Helvetica Neue"/>
                <a:ea typeface="Helvetica Neue"/>
                <a:cs typeface="Helvetica Neue"/>
              </a:rPr>
              <a:t>Distinct enemy roles and counterplay.</a:t>
            </a:r>
          </a:p>
          <a:p xmlns:a="http://schemas.openxmlformats.org/drawingml/2006/main">
            <a:pPr>
              <a:defRPr sz="1950" b="0">
                <a:solidFill>
                  <a:srgbClr val="F2F3E9"/>
                </a:solidFill>
                <a:latin typeface="Helvetica Neue"/>
                <a:ea typeface="Helvetica Neue"/>
                <a:cs typeface="Helvetica Neue"/>
              </a:defRPr>
            </a:pPr>
            <a:r>
              <a:rPr sz="1950" b="0">
                <a:solidFill>
                  <a:srgbClr val="F2F3E9"/>
                </a:solidFill>
                <a:latin typeface="Helvetica Neue"/>
                <a:ea typeface="Helvetica Neue"/>
                <a:cs typeface="Helvetica Neue"/>
              </a:rPr>
              <a:t>Visual teaching for movement and combat.</a:t>
            </a:r>
          </a:p>
        </p:txBody>
      </p:sp>
      <p:sp>
        <p:nvSpPr>
          <p:cNvPr id="8" name="">
            <a:extLst xmlns:a="http://schemas.openxmlformats.org/drawingml/2006/main">
              <a:ext uri="{FF2B5EF4-FFF2-40B4-BE49-F238E27FC236}">
                <a16:creationId xmlns:a16="http://schemas.microsoft.com/office/drawing/2014/main" id="{6C1AFFD2-E23F-4449-82BA-0E5F798BB93C}"/>
              </a:ext>
            </a:extLst>
          </p:cNvPr>
          <p:cNvSpPr>
            <a:spLocks xmlns:a="http://schemas.openxmlformats.org/drawingml/2006/main" noGrp="1"/>
          </p:cNvSpPr>
          <p:nvPr/>
        </p:nvSpPr>
        <p:spPr>
          <a:xfrm xmlns:a="http://schemas.openxmlformats.org/drawingml/2006/main">
            <a:off x="6819900" y="4257675"/>
            <a:ext cx="476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2F3E9"/>
                </a:solidFill>
                <a:latin typeface="Helvetica Neue"/>
                <a:ea typeface="Helvetica Neue"/>
                <a:cs typeface="Helvetica Neue"/>
              </a:defRPr>
            </a:pPr>
            <a:r>
              <a:rPr sz="2250" b="1">
                <a:solidFill>
                  <a:srgbClr val="F2F3E9"/>
                </a:solidFill>
                <a:latin typeface="Helvetica Neue"/>
                <a:ea typeface="Helvetica Neue"/>
                <a:cs typeface="Helvetica Neue"/>
              </a:rPr>
              <a:t>What we still need to prove</a:t>
            </a:r>
          </a:p>
        </p:txBody>
      </p:sp>
      <p:sp>
        <p:nvSpPr>
          <p:cNvPr id="9" name="">
            <a:extLst xmlns:a="http://schemas.openxmlformats.org/drawingml/2006/main">
              <a:ext uri="{FF2B5EF4-FFF2-40B4-BE49-F238E27FC236}">
                <a16:creationId xmlns:a16="http://schemas.microsoft.com/office/drawing/2014/main" id="{2EC27E61-CC7D-49F5-A42C-80E348A23231}"/>
              </a:ext>
            </a:extLst>
          </p:cNvPr>
          <p:cNvSpPr>
            <a:spLocks xmlns:a="http://schemas.openxmlformats.org/drawingml/2006/main" noGrp="1"/>
          </p:cNvSpPr>
          <p:nvPr/>
        </p:nvSpPr>
        <p:spPr>
          <a:xfrm xmlns:a="http://schemas.openxmlformats.org/drawingml/2006/main">
            <a:off x="6819900" y="4943475"/>
            <a:ext cx="4762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4BBB0"/>
                </a:solidFill>
                <a:latin typeface="Helvetica Neue"/>
                <a:ea typeface="Helvetica Neue"/>
                <a:cs typeface="Helvetica Neue"/>
              </a:defRPr>
            </a:pPr>
            <a:r>
              <a:rPr sz="1950" b="0">
                <a:solidFill>
                  <a:srgbClr val="A4BBB0"/>
                </a:solidFill>
                <a:latin typeface="Helvetica Neue"/>
                <a:ea typeface="Helvetica Neue"/>
                <a:cs typeface="Helvetica Neue"/>
              </a:rPr>
              <a:t>Do new players understand the controls?</a:t>
            </a:r>
          </a:p>
          <a:p xmlns:a="http://schemas.openxmlformats.org/drawingml/2006/main">
            <a:pPr>
              <a:defRPr sz="1950" b="0">
                <a:solidFill>
                  <a:srgbClr val="A4BBB0"/>
                </a:solidFill>
                <a:latin typeface="Helvetica Neue"/>
                <a:ea typeface="Helvetica Neue"/>
                <a:cs typeface="Helvetica Neue"/>
              </a:defRPr>
            </a:pPr>
            <a:r>
              <a:rPr sz="1950" b="0">
                <a:solidFill>
                  <a:srgbClr val="A4BBB0"/>
                </a:solidFill>
                <a:latin typeface="Helvetica Neue"/>
                <a:ea typeface="Helvetica Neue"/>
                <a:cs typeface="Helvetica Neue"/>
              </a:rPr>
              <a:t>Does the challenge feel fair?</a:t>
            </a:r>
          </a:p>
          <a:p xmlns:a="http://schemas.openxmlformats.org/drawingml/2006/main">
            <a:pPr>
              <a:defRPr sz="1950" b="0">
                <a:solidFill>
                  <a:srgbClr val="A4BBB0"/>
                </a:solidFill>
                <a:latin typeface="Helvetica Neue"/>
                <a:ea typeface="Helvetica Neue"/>
                <a:cs typeface="Helvetica Neue"/>
              </a:defRPr>
            </a:pPr>
            <a:r>
              <a:rPr sz="1950" b="0">
                <a:solidFill>
                  <a:srgbClr val="A4BBB0"/>
                </a:solidFill>
                <a:latin typeface="Helvetica Neue"/>
                <a:ea typeface="Helvetica Neue"/>
                <a:cs typeface="Helvetica Neue"/>
              </a:rPr>
              <a:t>Do they return for another run?</a:t>
            </a:r>
          </a:p>
        </p:txBody>
      </p:sp>
      <p:sp>
        <p:nvSpPr>
          <p:cNvPr id="10" name="">
            <a:extLst xmlns:a="http://schemas.openxmlformats.org/drawingml/2006/main">
              <a:ext uri="{FF2B5EF4-FFF2-40B4-BE49-F238E27FC236}">
                <a16:creationId xmlns:a16="http://schemas.microsoft.com/office/drawing/2014/main" id="{1A533082-1DEB-4F11-B84C-905068A5BBB8}"/>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E4126DE-1A70-42B5-939E-94FAE73AF9C8}"/>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STEAL A SEEKER  /  CLOCK IN 2026</a:t>
            </a:r>
          </a:p>
        </p:txBody>
      </p:sp>
      <p:sp>
        <p:nvSpPr>
          <p:cNvPr id="12" name="">
            <a:extLst xmlns:a="http://schemas.openxmlformats.org/drawingml/2006/main">
              <a:ext uri="{FF2B5EF4-FFF2-40B4-BE49-F238E27FC236}">
                <a16:creationId xmlns:a16="http://schemas.microsoft.com/office/drawing/2014/main" id="{957BF7F5-1812-4068-9692-C5BC59C4B554}"/>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09</a:t>
            </a:r>
          </a:p>
        </p:txBody>
      </p:sp>
    </p:spTree>
    <p:extLst>
      <p:ext uri="{BB962C8B-B14F-4D97-AF65-F5344CB8AC3E}">
        <p14:creationId xmlns:p14="http://schemas.microsoft.com/office/powerpoint/2010/main" val="681996703"/>
      </p:ext>
    </p:extLst>
  </p:cSld>
</p:sld>
</file>

<file path=ppt/slides/slide10.xml><?xml version="1.0" encoding="utf-8"?>
<p:sld xmlns:p="http://schemas.openxmlformats.org/presentationml/2006/main">
  <p:cSld>
    <p:bg>
      <p:bgPr>
        <a:solidFill xmlns:a="http://schemas.openxmlformats.org/drawingml/2006/main">
          <a:srgbClr val="091410"/>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d774c827ca54901"/>
          <a:stretch xmlns:a="http://schemas.openxmlformats.org/drawingml/2006/main"/>
        </p:blipFill>
        <p:spPr>
          <a:xfrm xmlns:a="http://schemas.openxmlformats.org/drawingml/2006/main">
            <a:off x="7130606" y="1266825"/>
            <a:ext cx="4112514" cy="48006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B348C40-E6DA-44C1-A396-35F62224321A}"/>
              </a:ext>
            </a:extLst>
          </p:cNvPr>
          <p:cNvSpPr>
            <a:spLocks xmlns:a="http://schemas.openxmlformats.org/drawingml/2006/main" noGrp="1"/>
          </p:cNvSpPr>
          <p:nvPr/>
        </p:nvSpPr>
        <p:spPr>
          <a:xfrm xmlns:a="http://schemas.openxmlformats.org/drawingml/2006/main">
            <a:off x="609600" y="533400"/>
            <a:ext cx="1000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7EBD7"/>
                </a:solidFill>
                <a:latin typeface="Helvetica Neue"/>
                <a:ea typeface="Helvetica Neue"/>
                <a:cs typeface="Helvetica Neue"/>
              </a:defRPr>
            </a:pPr>
            <a:r>
              <a:rPr sz="1500" b="1">
                <a:solidFill>
                  <a:srgbClr val="B7EBD7"/>
                </a:solidFill>
                <a:latin typeface="Helvetica Neue"/>
                <a:ea typeface="Helvetica Neue"/>
                <a:cs typeface="Helvetica Neue"/>
              </a:rPr>
              <a:t>AVAILABLE ON SOLANA MOBILE</a:t>
            </a:r>
          </a:p>
        </p:txBody>
      </p:sp>
      <p:sp>
        <p:nvSpPr>
          <p:cNvPr id="3" name="">
            <a:extLst xmlns:a="http://schemas.openxmlformats.org/drawingml/2006/main">
              <a:ext uri="{FF2B5EF4-FFF2-40B4-BE49-F238E27FC236}">
                <a16:creationId xmlns:a16="http://schemas.microsoft.com/office/drawing/2014/main" id="{C6F6C8E0-7E9D-427F-B141-EAF66B0F8EF0}"/>
              </a:ext>
            </a:extLst>
          </p:cNvPr>
          <p:cNvSpPr>
            <a:spLocks xmlns:a="http://schemas.openxmlformats.org/drawingml/2006/main" noGrp="1"/>
          </p:cNvSpPr>
          <p:nvPr/>
        </p:nvSpPr>
        <p:spPr>
          <a:xfrm xmlns:a="http://schemas.openxmlformats.org/drawingml/2006/main">
            <a:off x="609600" y="1571625"/>
            <a:ext cx="7019925"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F2F3E9"/>
                </a:solidFill>
                <a:latin typeface="Helvetica Neue"/>
                <a:ea typeface="Helvetica Neue"/>
                <a:cs typeface="Helvetica Neue"/>
              </a:defRPr>
            </a:pPr>
            <a:r>
              <a:rPr sz="4875" b="1">
                <a:solidFill>
                  <a:srgbClr val="F2F3E9"/>
                </a:solidFill>
                <a:latin typeface="Helvetica Neue"/>
                <a:ea typeface="Helvetica Neue"/>
                <a:cs typeface="Helvetica Neue"/>
              </a:rPr>
              <a:t>Your next</a:t>
            </a:r>
          </a:p>
          <a:p xmlns:a="http://schemas.openxmlformats.org/drawingml/2006/main">
            <a:pPr>
              <a:defRPr sz="4875" b="1">
                <a:solidFill>
                  <a:srgbClr val="F2F3E9"/>
                </a:solidFill>
                <a:latin typeface="Helvetica Neue"/>
                <a:ea typeface="Helvetica Neue"/>
                <a:cs typeface="Helvetica Neue"/>
              </a:defRPr>
            </a:pPr>
            <a:r>
              <a:rPr sz="4875" b="1">
                <a:solidFill>
                  <a:srgbClr val="F2F3E9"/>
                </a:solidFill>
                <a:latin typeface="Helvetica Neue"/>
                <a:ea typeface="Helvetica Neue"/>
                <a:cs typeface="Helvetica Neue"/>
              </a:rPr>
              <a:t>heist is waiting.</a:t>
            </a:r>
          </a:p>
        </p:txBody>
      </p:sp>
      <p:sp>
        <p:nvSpPr>
          <p:cNvPr id="4" name="">
            <a:extLst xmlns:a="http://schemas.openxmlformats.org/drawingml/2006/main">
              <a:ext uri="{FF2B5EF4-FFF2-40B4-BE49-F238E27FC236}">
                <a16:creationId xmlns:a16="http://schemas.microsoft.com/office/drawing/2014/main" id="{FBEA5043-72C4-4F52-BCAE-381A41BA83DC}"/>
              </a:ext>
            </a:extLst>
          </p:cNvPr>
          <p:cNvSpPr>
            <a:spLocks xmlns:a="http://schemas.openxmlformats.org/drawingml/2006/main" noGrp="1"/>
          </p:cNvSpPr>
          <p:nvPr/>
        </p:nvSpPr>
        <p:spPr>
          <a:xfrm xmlns:a="http://schemas.openxmlformats.org/drawingml/2006/main">
            <a:off x="638175" y="4010025"/>
            <a:ext cx="65436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7EBD7"/>
                </a:solidFill>
                <a:latin typeface="Helvetica Neue"/>
                <a:ea typeface="Helvetica Neue"/>
                <a:cs typeface="Helvetica Neue"/>
              </a:defRPr>
            </a:pPr>
            <a:r>
              <a:rPr sz="2325" b="1">
                <a:solidFill>
                  <a:srgbClr val="B7EBD7"/>
                </a:solidFill>
                <a:latin typeface="Helvetica Neue"/>
                <a:ea typeface="Helvetica Neue"/>
                <a:cs typeface="Helvetica Neue"/>
              </a:rPr>
              <a:t>On your Seeker, open the dApp Store</a:t>
            </a:r>
          </a:p>
          <a:p xmlns:a="http://schemas.openxmlformats.org/drawingml/2006/main">
            <a:pPr>
              <a:defRPr sz="2325" b="1">
                <a:solidFill>
                  <a:srgbClr val="B7EBD7"/>
                </a:solidFill>
                <a:latin typeface="Helvetica Neue"/>
                <a:ea typeface="Helvetica Neue"/>
                <a:cs typeface="Helvetica Neue"/>
              </a:defRPr>
            </a:pPr>
            <a:r>
              <a:rPr sz="2325" b="1">
                <a:solidFill>
                  <a:srgbClr val="B7EBD7"/>
                </a:solidFill>
                <a:latin typeface="Helvetica Neue"/>
                <a:ea typeface="Helvetica Neue"/>
                <a:cs typeface="Helvetica Neue"/>
              </a:rPr>
              <a:t>and search “Steal a Seeker”.</a:t>
            </a:r>
          </a:p>
        </p:txBody>
      </p:sp>
      <p:sp>
        <p:nvSpPr>
          <p:cNvPr id="5" name="">
            <a:extLst xmlns:a="http://schemas.openxmlformats.org/drawingml/2006/main">
              <a:ext uri="{FF2B5EF4-FFF2-40B4-BE49-F238E27FC236}">
                <a16:creationId xmlns:a16="http://schemas.microsoft.com/office/drawing/2014/main" id="{EC328B0F-B700-4E1A-804A-3B1BEE9751D5}"/>
              </a:ext>
            </a:extLst>
          </p:cNvPr>
          <p:cNvSpPr>
            <a:spLocks xmlns:a="http://schemas.openxmlformats.org/drawingml/2006/main" noGrp="1"/>
          </p:cNvSpPr>
          <p:nvPr/>
        </p:nvSpPr>
        <p:spPr>
          <a:xfrm xmlns:a="http://schemas.openxmlformats.org/drawingml/2006/main">
            <a:off x="638175" y="5257800"/>
            <a:ext cx="647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4BBB0"/>
                </a:solidFill>
                <a:latin typeface="Helvetica Neue"/>
                <a:ea typeface="Helvetica Neue"/>
                <a:cs typeface="Helvetica Neue"/>
              </a:defRPr>
            </a:pPr>
            <a:r>
              <a:rPr sz="1875" b="0">
                <a:solidFill>
                  <a:srgbClr val="A4BBB0"/>
                </a:solidFill>
                <a:latin typeface="Helvetica Neue"/>
                <a:ea typeface="Helvetica Neue"/>
                <a:cs typeface="Helvetica Neue"/>
              </a:rPr>
              <a:t>Play the free campaign.</a:t>
            </a:r>
          </a:p>
          <a:p xmlns:a="http://schemas.openxmlformats.org/drawingml/2006/main">
            <a:pPr>
              <a:defRPr sz="1875" b="0">
                <a:solidFill>
                  <a:srgbClr val="A4BBB0"/>
                </a:solidFill>
                <a:latin typeface="Helvetica Neue"/>
                <a:ea typeface="Helvetica Neue"/>
                <a:cs typeface="Helvetica Neue"/>
              </a:defRPr>
            </a:pPr>
            <a:r>
              <a:rPr sz="1875" b="0">
                <a:solidFill>
                  <a:srgbClr val="A4BBB0"/>
                </a:solidFill>
                <a:latin typeface="Helvetica Neue"/>
                <a:ea typeface="Helvetica Neue"/>
                <a:cs typeface="Helvetica Neue"/>
              </a:rPr>
              <a:t>Tell us where the game gets better—or breaks.</a:t>
            </a:r>
          </a:p>
        </p:txBody>
      </p:sp>
      <p:sp>
        <p:nvSpPr>
          <p:cNvPr id="6" name="">
            <a:extLst xmlns:a="http://schemas.openxmlformats.org/drawingml/2006/main">
              <a:ext uri="{FF2B5EF4-FFF2-40B4-BE49-F238E27FC236}">
                <a16:creationId xmlns:a16="http://schemas.microsoft.com/office/drawing/2014/main" id="{7502712E-EFAE-4CC7-8D85-6A4AD39EBA74}"/>
              </a:ext>
            </a:extLst>
          </p:cNvPr>
          <p:cNvSpPr>
            <a:spLocks xmlns:a="http://schemas.openxmlformats.org/drawingml/2006/main" noGrp="1"/>
          </p:cNvSpPr>
          <p:nvPr/>
        </p:nvSpPr>
        <p:spPr>
          <a:xfrm xmlns:a="http://schemas.openxmlformats.org/drawingml/2006/main">
            <a:off x="609600" y="6400800"/>
            <a:ext cx="10972800" cy="9525"/>
          </a:xfrm>
          <a:prstGeom xmlns:a="http://schemas.openxmlformats.org/drawingml/2006/main" prst="rect">
            <a:avLst/>
          </a:prstGeom>
          <a:solidFill xmlns:a="http://schemas.openxmlformats.org/drawingml/2006/main">
            <a:srgbClr val="33534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F961A44-5A59-4E20-AE60-FBD06AD440A6}"/>
              </a:ext>
            </a:extLst>
          </p:cNvPr>
          <p:cNvSpPr>
            <a:spLocks xmlns:a="http://schemas.openxmlformats.org/drawingml/2006/main" noGrp="1"/>
          </p:cNvSpPr>
          <p:nvPr/>
        </p:nvSpPr>
        <p:spPr>
          <a:xfrm xmlns:a="http://schemas.openxmlformats.org/drawingml/2006/main">
            <a:off x="609600" y="65151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A4BBB0"/>
                </a:solidFill>
                <a:latin typeface="Helvetica Neue"/>
                <a:ea typeface="Helvetica Neue"/>
                <a:cs typeface="Helvetica Neue"/>
              </a:defRPr>
            </a:pPr>
            <a:r>
              <a:rPr sz="1050" b="0">
                <a:solidFill>
                  <a:srgbClr val="A4BBB0"/>
                </a:solidFill>
                <a:latin typeface="Helvetica Neue"/>
                <a:ea typeface="Helvetica Neue"/>
                <a:cs typeface="Helvetica Neue"/>
              </a:rPr>
              <a:t>ISHAN LAKHWANI  /  BLUNTBRAIN  /  CLOCK IN 2026</a:t>
            </a:r>
          </a:p>
        </p:txBody>
      </p:sp>
      <p:sp>
        <p:nvSpPr>
          <p:cNvPr id="8" name="">
            <a:extLst xmlns:a="http://schemas.openxmlformats.org/drawingml/2006/main">
              <a:ext uri="{FF2B5EF4-FFF2-40B4-BE49-F238E27FC236}">
                <a16:creationId xmlns:a16="http://schemas.microsoft.com/office/drawing/2014/main" id="{DE4E2DBE-DD0A-47FF-ADCC-15AB64347BAD}"/>
              </a:ext>
            </a:extLst>
          </p:cNvPr>
          <p:cNvSpPr>
            <a:spLocks xmlns:a="http://schemas.openxmlformats.org/drawingml/2006/main" noGrp="1"/>
          </p:cNvSpPr>
          <p:nvPr/>
        </p:nvSpPr>
        <p:spPr>
          <a:xfrm xmlns:a="http://schemas.openxmlformats.org/drawingml/2006/main">
            <a:off x="11144250" y="6486525"/>
            <a:ext cx="45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EBD7"/>
                </a:solidFill>
                <a:latin typeface="Helvetica Neue"/>
                <a:ea typeface="Helvetica Neue"/>
                <a:cs typeface="Helvetica Neue"/>
              </a:defRPr>
            </a:pPr>
            <a:r>
              <a:rPr sz="1350" b="1">
                <a:solidFill>
                  <a:srgbClr val="B7EBD7"/>
                </a:solidFill>
                <a:latin typeface="Helvetica Neue"/>
                <a:ea typeface="Helvetica Neue"/>
                <a:cs typeface="Helvetica Neue"/>
              </a:rPr>
              <a:t>10</a:t>
            </a:r>
          </a:p>
        </p:txBody>
      </p:sp>
    </p:spTree>
    <p:extLst>
      <p:ext uri="{BB962C8B-B14F-4D97-AF65-F5344CB8AC3E}">
        <p14:creationId xmlns:p14="http://schemas.microsoft.com/office/powerpoint/2010/main" val="772608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2026-09-27T09:11:34.6480000Z</dcterms:created>
  <dcterms:modified xsi:type="dcterms:W3CDTF">2026-09-27T09:11:34.6490000Z</dcterms:modified>
</coreProperties>
</file>